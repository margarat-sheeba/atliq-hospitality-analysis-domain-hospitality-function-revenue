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75" r:id="rId3"/>
    <p:sldId id="274" r:id="rId4"/>
    <p:sldId id="259" r:id="rId5"/>
    <p:sldId id="260" r:id="rId6"/>
    <p:sldId id="269" r:id="rId7"/>
    <p:sldId id="261" r:id="rId8"/>
    <p:sldId id="270" r:id="rId9"/>
    <p:sldId id="271" r:id="rId10"/>
    <p:sldId id="262" r:id="rId11"/>
    <p:sldId id="263" r:id="rId12"/>
    <p:sldId id="264" r:id="rId13"/>
    <p:sldId id="265" r:id="rId14"/>
    <p:sldId id="266" r:id="rId15"/>
    <p:sldId id="267" r:id="rId16"/>
    <p:sldId id="272" r:id="rId17"/>
    <p:sldId id="273" r:id="rId18"/>
    <p:sldId id="268" r:id="rId19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8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408" y="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66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2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53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2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67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76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44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5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01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4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960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3583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860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4333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109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84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1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999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2617" y="3004185"/>
            <a:ext cx="890524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60" dirty="0">
                <a:solidFill>
                  <a:srgbClr val="FFFFFF"/>
                </a:solidFill>
              </a:rPr>
              <a:t>Atliq</a:t>
            </a:r>
            <a:r>
              <a:rPr sz="6000" spc="-180" dirty="0">
                <a:solidFill>
                  <a:srgbClr val="FFFFFF"/>
                </a:solidFill>
              </a:rPr>
              <a:t> </a:t>
            </a:r>
            <a:r>
              <a:rPr sz="6000" spc="-275" dirty="0">
                <a:solidFill>
                  <a:srgbClr val="FFFFFF"/>
                </a:solidFill>
              </a:rPr>
              <a:t>Hospitality</a:t>
            </a:r>
            <a:r>
              <a:rPr sz="6000" spc="-165" dirty="0">
                <a:solidFill>
                  <a:srgbClr val="FFFFFF"/>
                </a:solidFill>
              </a:rPr>
              <a:t> </a:t>
            </a:r>
            <a:r>
              <a:rPr sz="6000" spc="-105" dirty="0">
                <a:solidFill>
                  <a:srgbClr val="FFFFFF"/>
                </a:solidFill>
              </a:rPr>
              <a:t>Analysis</a:t>
            </a:r>
            <a:endParaRPr sz="6000" dirty="0"/>
          </a:p>
        </p:txBody>
      </p:sp>
      <p:sp>
        <p:nvSpPr>
          <p:cNvPr id="8" name="object 8"/>
          <p:cNvSpPr txBox="1"/>
          <p:nvPr/>
        </p:nvSpPr>
        <p:spPr>
          <a:xfrm>
            <a:off x="4783552" y="4689511"/>
            <a:ext cx="35306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130" algn="ctr">
              <a:lnSpc>
                <a:spcPct val="100000"/>
              </a:lnSpc>
              <a:spcBef>
                <a:spcPts val="1220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Presented</a:t>
            </a:r>
            <a:r>
              <a:rPr sz="16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16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lang="en-IN" sz="1600" dirty="0">
                <a:solidFill>
                  <a:srgbClr val="FFFFFF"/>
                </a:solidFill>
                <a:latin typeface="Segoe UI Light"/>
                <a:cs typeface="Segoe UI Light"/>
              </a:rPr>
              <a:t>Margarat Sheeba</a:t>
            </a:r>
            <a:endParaRPr sz="1600" dirty="0">
              <a:latin typeface="Segoe UI Light"/>
              <a:cs typeface="Segoe UI Light"/>
            </a:endParaRPr>
          </a:p>
        </p:txBody>
      </p:sp>
      <p:pic>
        <p:nvPicPr>
          <p:cNvPr id="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846" y="25924"/>
            <a:ext cx="1456944" cy="533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" y="5059680"/>
            <a:ext cx="2286000" cy="152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rgbClr val="7846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sz="1600" dirty="0"/>
              <a:t>Company Overview</a:t>
            </a:r>
          </a:p>
          <a:p>
            <a:pPr lvl="1">
              <a:defRPr sz="1200"/>
            </a:pPr>
            <a:r>
              <a:rPr sz="1200" dirty="0"/>
              <a:t>Intro to company</a:t>
            </a:r>
          </a:p>
          <a:p>
            <a:pPr lvl="1">
              <a:defRPr sz="1200"/>
            </a:pPr>
            <a:r>
              <a:rPr sz="1200" dirty="0"/>
              <a:t>Business domain</a:t>
            </a:r>
          </a:p>
          <a:p>
            <a:pPr lvl="1">
              <a:defRPr sz="1200"/>
            </a:pPr>
            <a:r>
              <a:rPr sz="1200" dirty="0"/>
              <a:t>Dataset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4632960"/>
            <a:ext cx="2621280" cy="11887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 algn="ctr"/>
            <a:r>
              <a:rPr sz="1600" b="1" dirty="0">
                <a:solidFill>
                  <a:schemeClr val="lt1"/>
                </a:solidFill>
              </a:rPr>
              <a:t>Data Model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Data cleaning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Table relationships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Data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92880" y="3870960"/>
            <a:ext cx="2514600" cy="11887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rgbClr val="FF8C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sz="1600" dirty="0"/>
              <a:t>KPIs</a:t>
            </a:r>
          </a:p>
          <a:p>
            <a:pPr lvl="1">
              <a:defRPr sz="1200"/>
            </a:pPr>
            <a:r>
              <a:rPr sz="1200" dirty="0"/>
              <a:t>Define indicators</a:t>
            </a:r>
          </a:p>
          <a:p>
            <a:pPr lvl="1">
              <a:defRPr sz="1200"/>
            </a:pPr>
            <a:r>
              <a:rPr sz="1200" dirty="0"/>
              <a:t>Sales metrics</a:t>
            </a:r>
          </a:p>
          <a:p>
            <a:pPr lvl="1">
              <a:defRPr sz="1200"/>
            </a:pPr>
            <a:r>
              <a:rPr sz="1200" dirty="0"/>
              <a:t>Business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7910" y="3398520"/>
            <a:ext cx="2362200" cy="11887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 algn="ctr"/>
            <a:r>
              <a:rPr sz="1600" b="1" dirty="0">
                <a:solidFill>
                  <a:schemeClr val="lt1"/>
                </a:solidFill>
              </a:rPr>
              <a:t>Dashboard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Interactive dashboard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Visual filters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Overview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7200" y="2514600"/>
            <a:ext cx="2209800" cy="11887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rgbClr val="3CB44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sz="1600" dirty="0"/>
              <a:t>Charts &amp; Insights</a:t>
            </a:r>
          </a:p>
          <a:p>
            <a:pPr lvl="1">
              <a:defRPr sz="1200"/>
            </a:pPr>
            <a:r>
              <a:rPr sz="1200" dirty="0"/>
              <a:t>Trend analysis</a:t>
            </a:r>
          </a:p>
          <a:p>
            <a:pPr lvl="1">
              <a:defRPr sz="1200"/>
            </a:pPr>
            <a:r>
              <a:rPr sz="1200" dirty="0"/>
              <a:t>Customer insights</a:t>
            </a:r>
          </a:p>
          <a:p>
            <a:pPr lvl="1">
              <a:defRPr sz="1200"/>
            </a:pPr>
            <a:r>
              <a:rPr sz="1200" dirty="0"/>
              <a:t>Sales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2200" y="1668780"/>
            <a:ext cx="2209800" cy="118871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 algn="ctr"/>
            <a:r>
              <a:rPr sz="1600" b="1" dirty="0">
                <a:solidFill>
                  <a:schemeClr val="lt1"/>
                </a:solidFill>
              </a:rPr>
              <a:t>Recommendations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Data‑driven ideas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Growth opportunities</a:t>
            </a:r>
          </a:p>
          <a:p>
            <a:pPr lvl="1">
              <a:defRPr sz="1200"/>
            </a:pPr>
            <a:r>
              <a:rPr sz="1200" dirty="0">
                <a:solidFill>
                  <a:schemeClr val="lt1"/>
                </a:solidFill>
              </a:rPr>
              <a:t>Strategy decisions</a:t>
            </a:r>
          </a:p>
        </p:txBody>
      </p:sp>
      <p:grpSp>
        <p:nvGrpSpPr>
          <p:cNvPr id="8" name="object 26">
            <a:extLst>
              <a:ext uri="{FF2B5EF4-FFF2-40B4-BE49-F238E27FC236}">
                <a16:creationId xmlns:a16="http://schemas.microsoft.com/office/drawing/2014/main" id="{B6033493-86E6-CACE-6B8A-1CABE3567AA2}"/>
              </a:ext>
            </a:extLst>
          </p:cNvPr>
          <p:cNvGrpSpPr/>
          <p:nvPr/>
        </p:nvGrpSpPr>
        <p:grpSpPr>
          <a:xfrm>
            <a:off x="11201400" y="793661"/>
            <a:ext cx="939165" cy="940435"/>
            <a:chOff x="4398264" y="1507236"/>
            <a:chExt cx="939165" cy="940435"/>
          </a:xfrm>
        </p:grpSpPr>
        <p:sp>
          <p:nvSpPr>
            <p:cNvPr id="9" name="object 27">
              <a:extLst>
                <a:ext uri="{FF2B5EF4-FFF2-40B4-BE49-F238E27FC236}">
                  <a16:creationId xmlns:a16="http://schemas.microsoft.com/office/drawing/2014/main" id="{357CFCDE-FE36-D995-6A4F-0166E2ADD154}"/>
                </a:ext>
              </a:extLst>
            </p:cNvPr>
            <p:cNvSpPr/>
            <p:nvPr/>
          </p:nvSpPr>
          <p:spPr>
            <a:xfrm>
              <a:off x="4398264" y="1507236"/>
              <a:ext cx="939165" cy="940435"/>
            </a:xfrm>
            <a:custGeom>
              <a:avLst/>
              <a:gdLst/>
              <a:ahLst/>
              <a:cxnLst/>
              <a:rect l="l" t="t" r="r" b="b"/>
              <a:pathLst>
                <a:path w="939164" h="940435">
                  <a:moveTo>
                    <a:pt x="469391" y="0"/>
                  </a:moveTo>
                  <a:lnTo>
                    <a:pt x="421404" y="2426"/>
                  </a:lnTo>
                  <a:lnTo>
                    <a:pt x="374802" y="9549"/>
                  </a:lnTo>
                  <a:lnTo>
                    <a:pt x="329820" y="21132"/>
                  </a:lnTo>
                  <a:lnTo>
                    <a:pt x="286696" y="36939"/>
                  </a:lnTo>
                  <a:lnTo>
                    <a:pt x="245665" y="56733"/>
                  </a:lnTo>
                  <a:lnTo>
                    <a:pt x="206964" y="80280"/>
                  </a:lnTo>
                  <a:lnTo>
                    <a:pt x="170827" y="107342"/>
                  </a:lnTo>
                  <a:lnTo>
                    <a:pt x="137493" y="137683"/>
                  </a:lnTo>
                  <a:lnTo>
                    <a:pt x="107196" y="171069"/>
                  </a:lnTo>
                  <a:lnTo>
                    <a:pt x="80172" y="207261"/>
                  </a:lnTo>
                  <a:lnTo>
                    <a:pt x="56659" y="246025"/>
                  </a:lnTo>
                  <a:lnTo>
                    <a:pt x="36891" y="287125"/>
                  </a:lnTo>
                  <a:lnTo>
                    <a:pt x="21105" y="330323"/>
                  </a:lnTo>
                  <a:lnTo>
                    <a:pt x="9537" y="375385"/>
                  </a:lnTo>
                  <a:lnTo>
                    <a:pt x="2423" y="422074"/>
                  </a:lnTo>
                  <a:lnTo>
                    <a:pt x="0" y="470153"/>
                  </a:lnTo>
                  <a:lnTo>
                    <a:pt x="2423" y="518233"/>
                  </a:lnTo>
                  <a:lnTo>
                    <a:pt x="9537" y="564922"/>
                  </a:lnTo>
                  <a:lnTo>
                    <a:pt x="21105" y="609984"/>
                  </a:lnTo>
                  <a:lnTo>
                    <a:pt x="36891" y="653182"/>
                  </a:lnTo>
                  <a:lnTo>
                    <a:pt x="56659" y="694282"/>
                  </a:lnTo>
                  <a:lnTo>
                    <a:pt x="80172" y="733046"/>
                  </a:lnTo>
                  <a:lnTo>
                    <a:pt x="107196" y="769238"/>
                  </a:lnTo>
                  <a:lnTo>
                    <a:pt x="137493" y="802624"/>
                  </a:lnTo>
                  <a:lnTo>
                    <a:pt x="170827" y="832965"/>
                  </a:lnTo>
                  <a:lnTo>
                    <a:pt x="206964" y="860027"/>
                  </a:lnTo>
                  <a:lnTo>
                    <a:pt x="245665" y="883574"/>
                  </a:lnTo>
                  <a:lnTo>
                    <a:pt x="286696" y="903368"/>
                  </a:lnTo>
                  <a:lnTo>
                    <a:pt x="329820" y="919175"/>
                  </a:lnTo>
                  <a:lnTo>
                    <a:pt x="374802" y="930758"/>
                  </a:lnTo>
                  <a:lnTo>
                    <a:pt x="421404" y="937881"/>
                  </a:lnTo>
                  <a:lnTo>
                    <a:pt x="469391" y="940308"/>
                  </a:lnTo>
                  <a:lnTo>
                    <a:pt x="517379" y="937881"/>
                  </a:lnTo>
                  <a:lnTo>
                    <a:pt x="563981" y="930758"/>
                  </a:lnTo>
                  <a:lnTo>
                    <a:pt x="608963" y="919175"/>
                  </a:lnTo>
                  <a:lnTo>
                    <a:pt x="652087" y="903368"/>
                  </a:lnTo>
                  <a:lnTo>
                    <a:pt x="693118" y="883574"/>
                  </a:lnTo>
                  <a:lnTo>
                    <a:pt x="731819" y="860027"/>
                  </a:lnTo>
                  <a:lnTo>
                    <a:pt x="767956" y="832965"/>
                  </a:lnTo>
                  <a:lnTo>
                    <a:pt x="801290" y="802624"/>
                  </a:lnTo>
                  <a:lnTo>
                    <a:pt x="831587" y="769238"/>
                  </a:lnTo>
                  <a:lnTo>
                    <a:pt x="858611" y="733046"/>
                  </a:lnTo>
                  <a:lnTo>
                    <a:pt x="882124" y="694282"/>
                  </a:lnTo>
                  <a:lnTo>
                    <a:pt x="901892" y="653182"/>
                  </a:lnTo>
                  <a:lnTo>
                    <a:pt x="917678" y="609984"/>
                  </a:lnTo>
                  <a:lnTo>
                    <a:pt x="929246" y="564922"/>
                  </a:lnTo>
                  <a:lnTo>
                    <a:pt x="936360" y="518233"/>
                  </a:lnTo>
                  <a:lnTo>
                    <a:pt x="938784" y="470153"/>
                  </a:lnTo>
                  <a:lnTo>
                    <a:pt x="936360" y="422074"/>
                  </a:lnTo>
                  <a:lnTo>
                    <a:pt x="929246" y="375385"/>
                  </a:lnTo>
                  <a:lnTo>
                    <a:pt x="917678" y="330323"/>
                  </a:lnTo>
                  <a:lnTo>
                    <a:pt x="901892" y="287125"/>
                  </a:lnTo>
                  <a:lnTo>
                    <a:pt x="882124" y="246025"/>
                  </a:lnTo>
                  <a:lnTo>
                    <a:pt x="858611" y="207261"/>
                  </a:lnTo>
                  <a:lnTo>
                    <a:pt x="831587" y="171069"/>
                  </a:lnTo>
                  <a:lnTo>
                    <a:pt x="801290" y="137683"/>
                  </a:lnTo>
                  <a:lnTo>
                    <a:pt x="767956" y="107342"/>
                  </a:lnTo>
                  <a:lnTo>
                    <a:pt x="731819" y="80280"/>
                  </a:lnTo>
                  <a:lnTo>
                    <a:pt x="693118" y="56733"/>
                  </a:lnTo>
                  <a:lnTo>
                    <a:pt x="652087" y="36939"/>
                  </a:lnTo>
                  <a:lnTo>
                    <a:pt x="608963" y="21132"/>
                  </a:lnTo>
                  <a:lnTo>
                    <a:pt x="563981" y="9549"/>
                  </a:lnTo>
                  <a:lnTo>
                    <a:pt x="517379" y="2426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28">
              <a:extLst>
                <a:ext uri="{FF2B5EF4-FFF2-40B4-BE49-F238E27FC236}">
                  <a16:creationId xmlns:a16="http://schemas.microsoft.com/office/drawing/2014/main" id="{55371EC6-3A50-5C04-CD78-BDA9A58625B4}"/>
                </a:ext>
              </a:extLst>
            </p:cNvPr>
            <p:cNvSpPr/>
            <p:nvPr/>
          </p:nvSpPr>
          <p:spPr>
            <a:xfrm>
              <a:off x="4745736" y="1812036"/>
              <a:ext cx="220979" cy="288290"/>
            </a:xfrm>
            <a:custGeom>
              <a:avLst/>
              <a:gdLst/>
              <a:ahLst/>
              <a:cxnLst/>
              <a:rect l="l" t="t" r="r" b="b"/>
              <a:pathLst>
                <a:path w="220979" h="288289">
                  <a:moveTo>
                    <a:pt x="156463" y="0"/>
                  </a:moveTo>
                  <a:lnTo>
                    <a:pt x="140080" y="0"/>
                  </a:lnTo>
                  <a:lnTo>
                    <a:pt x="132841" y="1015"/>
                  </a:lnTo>
                  <a:lnTo>
                    <a:pt x="125222" y="2921"/>
                  </a:lnTo>
                  <a:lnTo>
                    <a:pt x="117983" y="4317"/>
                  </a:lnTo>
                  <a:lnTo>
                    <a:pt x="111251" y="7619"/>
                  </a:lnTo>
                  <a:lnTo>
                    <a:pt x="104901" y="10540"/>
                  </a:lnTo>
                  <a:lnTo>
                    <a:pt x="98171" y="17272"/>
                  </a:lnTo>
                  <a:lnTo>
                    <a:pt x="96774" y="20065"/>
                  </a:lnTo>
                  <a:lnTo>
                    <a:pt x="93344" y="20065"/>
                  </a:lnTo>
                  <a:lnTo>
                    <a:pt x="90042" y="20574"/>
                  </a:lnTo>
                  <a:lnTo>
                    <a:pt x="74675" y="35940"/>
                  </a:lnTo>
                  <a:lnTo>
                    <a:pt x="74675" y="46862"/>
                  </a:lnTo>
                  <a:lnTo>
                    <a:pt x="76580" y="57403"/>
                  </a:lnTo>
                  <a:lnTo>
                    <a:pt x="78993" y="66039"/>
                  </a:lnTo>
                  <a:lnTo>
                    <a:pt x="78993" y="66548"/>
                  </a:lnTo>
                  <a:lnTo>
                    <a:pt x="76580" y="68961"/>
                  </a:lnTo>
                  <a:lnTo>
                    <a:pt x="74167" y="72262"/>
                  </a:lnTo>
                  <a:lnTo>
                    <a:pt x="72643" y="74675"/>
                  </a:lnTo>
                  <a:lnTo>
                    <a:pt x="71754" y="81279"/>
                  </a:lnTo>
                  <a:lnTo>
                    <a:pt x="71754" y="88011"/>
                  </a:lnTo>
                  <a:lnTo>
                    <a:pt x="72262" y="91439"/>
                  </a:lnTo>
                  <a:lnTo>
                    <a:pt x="72643" y="93725"/>
                  </a:lnTo>
                  <a:lnTo>
                    <a:pt x="74167" y="96138"/>
                  </a:lnTo>
                  <a:lnTo>
                    <a:pt x="75056" y="98551"/>
                  </a:lnTo>
                  <a:lnTo>
                    <a:pt x="76580" y="100456"/>
                  </a:lnTo>
                  <a:lnTo>
                    <a:pt x="78486" y="102362"/>
                  </a:lnTo>
                  <a:lnTo>
                    <a:pt x="80390" y="103377"/>
                  </a:lnTo>
                  <a:lnTo>
                    <a:pt x="80899" y="108585"/>
                  </a:lnTo>
                  <a:lnTo>
                    <a:pt x="81300" y="112394"/>
                  </a:lnTo>
                  <a:lnTo>
                    <a:pt x="81406" y="113411"/>
                  </a:lnTo>
                  <a:lnTo>
                    <a:pt x="82803" y="117728"/>
                  </a:lnTo>
                  <a:lnTo>
                    <a:pt x="97789" y="146430"/>
                  </a:lnTo>
                  <a:lnTo>
                    <a:pt x="101091" y="150240"/>
                  </a:lnTo>
                  <a:lnTo>
                    <a:pt x="103504" y="152653"/>
                  </a:lnTo>
                  <a:lnTo>
                    <a:pt x="103504" y="174116"/>
                  </a:lnTo>
                  <a:lnTo>
                    <a:pt x="96774" y="176529"/>
                  </a:lnTo>
                  <a:lnTo>
                    <a:pt x="89535" y="179450"/>
                  </a:lnTo>
                  <a:lnTo>
                    <a:pt x="82296" y="182244"/>
                  </a:lnTo>
                  <a:lnTo>
                    <a:pt x="74675" y="183768"/>
                  </a:lnTo>
                  <a:lnTo>
                    <a:pt x="51053" y="191897"/>
                  </a:lnTo>
                  <a:lnTo>
                    <a:pt x="40004" y="196214"/>
                  </a:lnTo>
                  <a:lnTo>
                    <a:pt x="22098" y="204724"/>
                  </a:lnTo>
                  <a:lnTo>
                    <a:pt x="15366" y="209550"/>
                  </a:lnTo>
                  <a:lnTo>
                    <a:pt x="12953" y="212471"/>
                  </a:lnTo>
                  <a:lnTo>
                    <a:pt x="10540" y="214884"/>
                  </a:lnTo>
                  <a:lnTo>
                    <a:pt x="1015" y="258317"/>
                  </a:lnTo>
                  <a:lnTo>
                    <a:pt x="0" y="274192"/>
                  </a:lnTo>
                  <a:lnTo>
                    <a:pt x="0" y="281813"/>
                  </a:lnTo>
                  <a:lnTo>
                    <a:pt x="508" y="284225"/>
                  </a:lnTo>
                  <a:lnTo>
                    <a:pt x="1904" y="286130"/>
                  </a:lnTo>
                  <a:lnTo>
                    <a:pt x="3428" y="287019"/>
                  </a:lnTo>
                  <a:lnTo>
                    <a:pt x="5334" y="288036"/>
                  </a:lnTo>
                  <a:lnTo>
                    <a:pt x="168528" y="288036"/>
                  </a:lnTo>
                  <a:lnTo>
                    <a:pt x="166624" y="284225"/>
                  </a:lnTo>
                  <a:lnTo>
                    <a:pt x="166115" y="281813"/>
                  </a:lnTo>
                  <a:lnTo>
                    <a:pt x="166115" y="279908"/>
                  </a:lnTo>
                  <a:lnTo>
                    <a:pt x="167512" y="278002"/>
                  </a:lnTo>
                  <a:lnTo>
                    <a:pt x="169417" y="276098"/>
                  </a:lnTo>
                  <a:lnTo>
                    <a:pt x="183006" y="267969"/>
                  </a:lnTo>
                  <a:lnTo>
                    <a:pt x="182499" y="263143"/>
                  </a:lnTo>
                  <a:lnTo>
                    <a:pt x="182499" y="253618"/>
                  </a:lnTo>
                  <a:lnTo>
                    <a:pt x="183006" y="248285"/>
                  </a:lnTo>
                  <a:lnTo>
                    <a:pt x="169417" y="240664"/>
                  </a:lnTo>
                  <a:lnTo>
                    <a:pt x="167512" y="238760"/>
                  </a:lnTo>
                  <a:lnTo>
                    <a:pt x="166115" y="236854"/>
                  </a:lnTo>
                  <a:lnTo>
                    <a:pt x="166115" y="234441"/>
                  </a:lnTo>
                  <a:lnTo>
                    <a:pt x="166624" y="232537"/>
                  </a:lnTo>
                  <a:lnTo>
                    <a:pt x="191135" y="191388"/>
                  </a:lnTo>
                  <a:lnTo>
                    <a:pt x="192150" y="189991"/>
                  </a:lnTo>
                  <a:lnTo>
                    <a:pt x="194055" y="188975"/>
                  </a:lnTo>
                  <a:lnTo>
                    <a:pt x="213051" y="188975"/>
                  </a:lnTo>
                  <a:lnTo>
                    <a:pt x="204088" y="185674"/>
                  </a:lnTo>
                  <a:lnTo>
                    <a:pt x="198374" y="183768"/>
                  </a:lnTo>
                  <a:lnTo>
                    <a:pt x="192531" y="181355"/>
                  </a:lnTo>
                  <a:lnTo>
                    <a:pt x="187325" y="179450"/>
                  </a:lnTo>
                  <a:lnTo>
                    <a:pt x="180975" y="177037"/>
                  </a:lnTo>
                  <a:lnTo>
                    <a:pt x="177164" y="176022"/>
                  </a:lnTo>
                  <a:lnTo>
                    <a:pt x="173736" y="174116"/>
                  </a:lnTo>
                  <a:lnTo>
                    <a:pt x="173736" y="146938"/>
                  </a:lnTo>
                  <a:lnTo>
                    <a:pt x="176149" y="144525"/>
                  </a:lnTo>
                  <a:lnTo>
                    <a:pt x="179069" y="142112"/>
                  </a:lnTo>
                  <a:lnTo>
                    <a:pt x="182499" y="137794"/>
                  </a:lnTo>
                  <a:lnTo>
                    <a:pt x="193548" y="103377"/>
                  </a:lnTo>
                  <a:lnTo>
                    <a:pt x="195452" y="102362"/>
                  </a:lnTo>
                  <a:lnTo>
                    <a:pt x="201294" y="91439"/>
                  </a:lnTo>
                  <a:lnTo>
                    <a:pt x="202069" y="88011"/>
                  </a:lnTo>
                  <a:lnTo>
                    <a:pt x="202184" y="78486"/>
                  </a:lnTo>
                  <a:lnTo>
                    <a:pt x="200278" y="72771"/>
                  </a:lnTo>
                  <a:lnTo>
                    <a:pt x="198374" y="68961"/>
                  </a:lnTo>
                  <a:lnTo>
                    <a:pt x="195452" y="65531"/>
                  </a:lnTo>
                  <a:lnTo>
                    <a:pt x="198374" y="57912"/>
                  </a:lnTo>
                  <a:lnTo>
                    <a:pt x="200787" y="48387"/>
                  </a:lnTo>
                  <a:lnTo>
                    <a:pt x="202184" y="42544"/>
                  </a:lnTo>
                  <a:lnTo>
                    <a:pt x="202184" y="31114"/>
                  </a:lnTo>
                  <a:lnTo>
                    <a:pt x="200787" y="25400"/>
                  </a:lnTo>
                  <a:lnTo>
                    <a:pt x="199771" y="21589"/>
                  </a:lnTo>
                  <a:lnTo>
                    <a:pt x="198374" y="18668"/>
                  </a:lnTo>
                  <a:lnTo>
                    <a:pt x="195961" y="16255"/>
                  </a:lnTo>
                  <a:lnTo>
                    <a:pt x="194055" y="12953"/>
                  </a:lnTo>
                  <a:lnTo>
                    <a:pt x="191135" y="11429"/>
                  </a:lnTo>
                  <a:lnTo>
                    <a:pt x="187705" y="8636"/>
                  </a:lnTo>
                  <a:lnTo>
                    <a:pt x="183896" y="7238"/>
                  </a:lnTo>
                  <a:lnTo>
                    <a:pt x="180975" y="5714"/>
                  </a:lnTo>
                  <a:lnTo>
                    <a:pt x="172847" y="3301"/>
                  </a:lnTo>
                  <a:lnTo>
                    <a:pt x="164211" y="1397"/>
                  </a:lnTo>
                  <a:lnTo>
                    <a:pt x="156463" y="0"/>
                  </a:lnTo>
                  <a:close/>
                </a:path>
                <a:path w="220979" h="288289">
                  <a:moveTo>
                    <a:pt x="213051" y="188975"/>
                  </a:moveTo>
                  <a:lnTo>
                    <a:pt x="196468" y="188975"/>
                  </a:lnTo>
                  <a:lnTo>
                    <a:pt x="198881" y="189484"/>
                  </a:lnTo>
                  <a:lnTo>
                    <a:pt x="212343" y="197612"/>
                  </a:lnTo>
                  <a:lnTo>
                    <a:pt x="216662" y="194310"/>
                  </a:lnTo>
                  <a:lnTo>
                    <a:pt x="220979" y="191897"/>
                  </a:lnTo>
                  <a:lnTo>
                    <a:pt x="213051" y="188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29">
              <a:extLst>
                <a:ext uri="{FF2B5EF4-FFF2-40B4-BE49-F238E27FC236}">
                  <a16:creationId xmlns:a16="http://schemas.microsoft.com/office/drawing/2014/main" id="{63E7174E-1805-FCC5-CB75-E7B669712ED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4420" y="1976627"/>
              <a:ext cx="163067" cy="181356"/>
            </a:xfrm>
            <a:prstGeom prst="rect">
              <a:avLst/>
            </a:prstGeom>
          </p:spPr>
        </p:pic>
      </p:grp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8F31836B-FBC7-5A3E-7C39-B9B37FAE49F2}"/>
              </a:ext>
            </a:extLst>
          </p:cNvPr>
          <p:cNvGrpSpPr/>
          <p:nvPr/>
        </p:nvGrpSpPr>
        <p:grpSpPr>
          <a:xfrm>
            <a:off x="558483" y="4376738"/>
            <a:ext cx="940435" cy="939165"/>
            <a:chOff x="6832092" y="1514855"/>
            <a:chExt cx="940435" cy="939165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442C5B9-EF8C-70FA-483C-4D3E65CA40CA}"/>
                </a:ext>
              </a:extLst>
            </p:cNvPr>
            <p:cNvSpPr/>
            <p:nvPr/>
          </p:nvSpPr>
          <p:spPr>
            <a:xfrm>
              <a:off x="6832092" y="1514855"/>
              <a:ext cx="940435" cy="939165"/>
            </a:xfrm>
            <a:custGeom>
              <a:avLst/>
              <a:gdLst/>
              <a:ahLst/>
              <a:cxnLst/>
              <a:rect l="l" t="t" r="r" b="b"/>
              <a:pathLst>
                <a:path w="940434" h="939164">
                  <a:moveTo>
                    <a:pt x="470153" y="0"/>
                  </a:moveTo>
                  <a:lnTo>
                    <a:pt x="422074" y="2423"/>
                  </a:lnTo>
                  <a:lnTo>
                    <a:pt x="375385" y="9537"/>
                  </a:lnTo>
                  <a:lnTo>
                    <a:pt x="330323" y="21105"/>
                  </a:lnTo>
                  <a:lnTo>
                    <a:pt x="287125" y="36891"/>
                  </a:lnTo>
                  <a:lnTo>
                    <a:pt x="246025" y="56659"/>
                  </a:lnTo>
                  <a:lnTo>
                    <a:pt x="207261" y="80172"/>
                  </a:lnTo>
                  <a:lnTo>
                    <a:pt x="171069" y="107196"/>
                  </a:lnTo>
                  <a:lnTo>
                    <a:pt x="137683" y="137493"/>
                  </a:lnTo>
                  <a:lnTo>
                    <a:pt x="107342" y="170827"/>
                  </a:lnTo>
                  <a:lnTo>
                    <a:pt x="80280" y="206964"/>
                  </a:lnTo>
                  <a:lnTo>
                    <a:pt x="56733" y="245665"/>
                  </a:lnTo>
                  <a:lnTo>
                    <a:pt x="36939" y="286696"/>
                  </a:lnTo>
                  <a:lnTo>
                    <a:pt x="21132" y="329820"/>
                  </a:lnTo>
                  <a:lnTo>
                    <a:pt x="9549" y="374802"/>
                  </a:lnTo>
                  <a:lnTo>
                    <a:pt x="2426" y="421404"/>
                  </a:lnTo>
                  <a:lnTo>
                    <a:pt x="0" y="469392"/>
                  </a:lnTo>
                  <a:lnTo>
                    <a:pt x="2426" y="517379"/>
                  </a:lnTo>
                  <a:lnTo>
                    <a:pt x="9549" y="563981"/>
                  </a:lnTo>
                  <a:lnTo>
                    <a:pt x="21132" y="608963"/>
                  </a:lnTo>
                  <a:lnTo>
                    <a:pt x="36939" y="652087"/>
                  </a:lnTo>
                  <a:lnTo>
                    <a:pt x="56733" y="693118"/>
                  </a:lnTo>
                  <a:lnTo>
                    <a:pt x="80280" y="731819"/>
                  </a:lnTo>
                  <a:lnTo>
                    <a:pt x="107342" y="767956"/>
                  </a:lnTo>
                  <a:lnTo>
                    <a:pt x="137683" y="801290"/>
                  </a:lnTo>
                  <a:lnTo>
                    <a:pt x="171069" y="831587"/>
                  </a:lnTo>
                  <a:lnTo>
                    <a:pt x="207261" y="858611"/>
                  </a:lnTo>
                  <a:lnTo>
                    <a:pt x="246025" y="882124"/>
                  </a:lnTo>
                  <a:lnTo>
                    <a:pt x="287125" y="901892"/>
                  </a:lnTo>
                  <a:lnTo>
                    <a:pt x="330323" y="917678"/>
                  </a:lnTo>
                  <a:lnTo>
                    <a:pt x="375385" y="929246"/>
                  </a:lnTo>
                  <a:lnTo>
                    <a:pt x="422074" y="936360"/>
                  </a:lnTo>
                  <a:lnTo>
                    <a:pt x="470153" y="938784"/>
                  </a:lnTo>
                  <a:lnTo>
                    <a:pt x="518233" y="936360"/>
                  </a:lnTo>
                  <a:lnTo>
                    <a:pt x="564922" y="929246"/>
                  </a:lnTo>
                  <a:lnTo>
                    <a:pt x="609984" y="917678"/>
                  </a:lnTo>
                  <a:lnTo>
                    <a:pt x="653182" y="901892"/>
                  </a:lnTo>
                  <a:lnTo>
                    <a:pt x="694282" y="882124"/>
                  </a:lnTo>
                  <a:lnTo>
                    <a:pt x="733046" y="858611"/>
                  </a:lnTo>
                  <a:lnTo>
                    <a:pt x="769238" y="831587"/>
                  </a:lnTo>
                  <a:lnTo>
                    <a:pt x="802624" y="801290"/>
                  </a:lnTo>
                  <a:lnTo>
                    <a:pt x="832965" y="767956"/>
                  </a:lnTo>
                  <a:lnTo>
                    <a:pt x="860027" y="731819"/>
                  </a:lnTo>
                  <a:lnTo>
                    <a:pt x="883574" y="693118"/>
                  </a:lnTo>
                  <a:lnTo>
                    <a:pt x="903368" y="652087"/>
                  </a:lnTo>
                  <a:lnTo>
                    <a:pt x="919175" y="608963"/>
                  </a:lnTo>
                  <a:lnTo>
                    <a:pt x="930758" y="563981"/>
                  </a:lnTo>
                  <a:lnTo>
                    <a:pt x="937881" y="517379"/>
                  </a:lnTo>
                  <a:lnTo>
                    <a:pt x="940307" y="469392"/>
                  </a:lnTo>
                  <a:lnTo>
                    <a:pt x="937881" y="421404"/>
                  </a:lnTo>
                  <a:lnTo>
                    <a:pt x="930758" y="374802"/>
                  </a:lnTo>
                  <a:lnTo>
                    <a:pt x="919175" y="329820"/>
                  </a:lnTo>
                  <a:lnTo>
                    <a:pt x="903368" y="286696"/>
                  </a:lnTo>
                  <a:lnTo>
                    <a:pt x="883574" y="245665"/>
                  </a:lnTo>
                  <a:lnTo>
                    <a:pt x="860027" y="206964"/>
                  </a:lnTo>
                  <a:lnTo>
                    <a:pt x="832965" y="170827"/>
                  </a:lnTo>
                  <a:lnTo>
                    <a:pt x="802624" y="137493"/>
                  </a:lnTo>
                  <a:lnTo>
                    <a:pt x="769238" y="107196"/>
                  </a:lnTo>
                  <a:lnTo>
                    <a:pt x="733046" y="80172"/>
                  </a:lnTo>
                  <a:lnTo>
                    <a:pt x="694282" y="56659"/>
                  </a:lnTo>
                  <a:lnTo>
                    <a:pt x="653182" y="36891"/>
                  </a:lnTo>
                  <a:lnTo>
                    <a:pt x="609984" y="21105"/>
                  </a:lnTo>
                  <a:lnTo>
                    <a:pt x="564922" y="9537"/>
                  </a:lnTo>
                  <a:lnTo>
                    <a:pt x="518233" y="2423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073037B9-EBD2-9A43-C28B-1B564FAB9B95}"/>
                </a:ext>
              </a:extLst>
            </p:cNvPr>
            <p:cNvSpPr/>
            <p:nvPr/>
          </p:nvSpPr>
          <p:spPr>
            <a:xfrm>
              <a:off x="7129272" y="181203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0232" y="0"/>
                  </a:moveTo>
                  <a:lnTo>
                    <a:pt x="5714" y="0"/>
                  </a:lnTo>
                  <a:lnTo>
                    <a:pt x="3809" y="1015"/>
                  </a:lnTo>
                  <a:lnTo>
                    <a:pt x="1397" y="2412"/>
                  </a:lnTo>
                  <a:lnTo>
                    <a:pt x="507" y="3810"/>
                  </a:lnTo>
                  <a:lnTo>
                    <a:pt x="0" y="6223"/>
                  </a:lnTo>
                  <a:lnTo>
                    <a:pt x="0" y="340233"/>
                  </a:lnTo>
                  <a:lnTo>
                    <a:pt x="507" y="343026"/>
                  </a:lnTo>
                  <a:lnTo>
                    <a:pt x="1397" y="344550"/>
                  </a:lnTo>
                  <a:lnTo>
                    <a:pt x="3809" y="345948"/>
                  </a:lnTo>
                  <a:lnTo>
                    <a:pt x="342137" y="345948"/>
                  </a:lnTo>
                  <a:lnTo>
                    <a:pt x="344550" y="344550"/>
                  </a:lnTo>
                  <a:lnTo>
                    <a:pt x="345439" y="343026"/>
                  </a:lnTo>
                  <a:lnTo>
                    <a:pt x="345948" y="340233"/>
                  </a:lnTo>
                  <a:lnTo>
                    <a:pt x="345948" y="273812"/>
                  </a:lnTo>
                  <a:lnTo>
                    <a:pt x="78867" y="273812"/>
                  </a:lnTo>
                  <a:lnTo>
                    <a:pt x="76073" y="273303"/>
                  </a:lnTo>
                  <a:lnTo>
                    <a:pt x="74549" y="271906"/>
                  </a:lnTo>
                  <a:lnTo>
                    <a:pt x="45211" y="242950"/>
                  </a:lnTo>
                  <a:lnTo>
                    <a:pt x="44323" y="241553"/>
                  </a:lnTo>
                  <a:lnTo>
                    <a:pt x="43814" y="239140"/>
                  </a:lnTo>
                  <a:lnTo>
                    <a:pt x="44323" y="237236"/>
                  </a:lnTo>
                  <a:lnTo>
                    <a:pt x="45211" y="234823"/>
                  </a:lnTo>
                  <a:lnTo>
                    <a:pt x="47117" y="233806"/>
                  </a:lnTo>
                  <a:lnTo>
                    <a:pt x="49529" y="233299"/>
                  </a:lnTo>
                  <a:lnTo>
                    <a:pt x="105214" y="233299"/>
                  </a:lnTo>
                  <a:lnTo>
                    <a:pt x="147193" y="191008"/>
                  </a:lnTo>
                  <a:lnTo>
                    <a:pt x="148717" y="189991"/>
                  </a:lnTo>
                  <a:lnTo>
                    <a:pt x="151129" y="189611"/>
                  </a:lnTo>
                  <a:lnTo>
                    <a:pt x="345948" y="189611"/>
                  </a:lnTo>
                  <a:lnTo>
                    <a:pt x="345948" y="135636"/>
                  </a:lnTo>
                  <a:lnTo>
                    <a:pt x="76073" y="135636"/>
                  </a:lnTo>
                  <a:lnTo>
                    <a:pt x="74549" y="134238"/>
                  </a:lnTo>
                  <a:lnTo>
                    <a:pt x="45211" y="104901"/>
                  </a:lnTo>
                  <a:lnTo>
                    <a:pt x="44323" y="102997"/>
                  </a:lnTo>
                  <a:lnTo>
                    <a:pt x="43814" y="100584"/>
                  </a:lnTo>
                  <a:lnTo>
                    <a:pt x="44323" y="98678"/>
                  </a:lnTo>
                  <a:lnTo>
                    <a:pt x="45211" y="96774"/>
                  </a:lnTo>
                  <a:lnTo>
                    <a:pt x="47117" y="95250"/>
                  </a:lnTo>
                  <a:lnTo>
                    <a:pt x="49529" y="94741"/>
                  </a:lnTo>
                  <a:lnTo>
                    <a:pt x="105918" y="94741"/>
                  </a:lnTo>
                  <a:lnTo>
                    <a:pt x="147193" y="53466"/>
                  </a:lnTo>
                  <a:lnTo>
                    <a:pt x="148717" y="52450"/>
                  </a:lnTo>
                  <a:lnTo>
                    <a:pt x="151129" y="51942"/>
                  </a:lnTo>
                  <a:lnTo>
                    <a:pt x="345948" y="51942"/>
                  </a:lnTo>
                  <a:lnTo>
                    <a:pt x="345948" y="6223"/>
                  </a:lnTo>
                  <a:lnTo>
                    <a:pt x="345439" y="3810"/>
                  </a:lnTo>
                  <a:lnTo>
                    <a:pt x="344550" y="2412"/>
                  </a:lnTo>
                  <a:lnTo>
                    <a:pt x="342137" y="1015"/>
                  </a:lnTo>
                  <a:lnTo>
                    <a:pt x="340232" y="0"/>
                  </a:lnTo>
                  <a:close/>
                </a:path>
                <a:path w="346075" h="346075">
                  <a:moveTo>
                    <a:pt x="345948" y="189611"/>
                  </a:moveTo>
                  <a:lnTo>
                    <a:pt x="151129" y="189611"/>
                  </a:lnTo>
                  <a:lnTo>
                    <a:pt x="153034" y="189991"/>
                  </a:lnTo>
                  <a:lnTo>
                    <a:pt x="155448" y="191515"/>
                  </a:lnTo>
                  <a:lnTo>
                    <a:pt x="156336" y="192912"/>
                  </a:lnTo>
                  <a:lnTo>
                    <a:pt x="156845" y="195325"/>
                  </a:lnTo>
                  <a:lnTo>
                    <a:pt x="156336" y="197230"/>
                  </a:lnTo>
                  <a:lnTo>
                    <a:pt x="155448" y="199136"/>
                  </a:lnTo>
                  <a:lnTo>
                    <a:pt x="82296" y="271906"/>
                  </a:lnTo>
                  <a:lnTo>
                    <a:pt x="80772" y="273303"/>
                  </a:lnTo>
                  <a:lnTo>
                    <a:pt x="78867" y="273812"/>
                  </a:lnTo>
                  <a:lnTo>
                    <a:pt x="345948" y="273812"/>
                  </a:lnTo>
                  <a:lnTo>
                    <a:pt x="345948" y="254000"/>
                  </a:lnTo>
                  <a:lnTo>
                    <a:pt x="179958" y="254000"/>
                  </a:lnTo>
                  <a:lnTo>
                    <a:pt x="178053" y="253618"/>
                  </a:lnTo>
                  <a:lnTo>
                    <a:pt x="176149" y="252602"/>
                  </a:lnTo>
                  <a:lnTo>
                    <a:pt x="174625" y="250698"/>
                  </a:lnTo>
                  <a:lnTo>
                    <a:pt x="174117" y="248285"/>
                  </a:lnTo>
                  <a:lnTo>
                    <a:pt x="174625" y="246379"/>
                  </a:lnTo>
                  <a:lnTo>
                    <a:pt x="176149" y="243966"/>
                  </a:lnTo>
                  <a:lnTo>
                    <a:pt x="178053" y="242950"/>
                  </a:lnTo>
                  <a:lnTo>
                    <a:pt x="179958" y="242442"/>
                  </a:lnTo>
                  <a:lnTo>
                    <a:pt x="345948" y="242442"/>
                  </a:lnTo>
                  <a:lnTo>
                    <a:pt x="345948" y="189611"/>
                  </a:lnTo>
                  <a:close/>
                </a:path>
                <a:path w="346075" h="346075">
                  <a:moveTo>
                    <a:pt x="105214" y="233299"/>
                  </a:moveTo>
                  <a:lnTo>
                    <a:pt x="49529" y="233299"/>
                  </a:lnTo>
                  <a:lnTo>
                    <a:pt x="51434" y="233806"/>
                  </a:lnTo>
                  <a:lnTo>
                    <a:pt x="53467" y="234823"/>
                  </a:lnTo>
                  <a:lnTo>
                    <a:pt x="78867" y="259841"/>
                  </a:lnTo>
                  <a:lnTo>
                    <a:pt x="105214" y="233299"/>
                  </a:lnTo>
                  <a:close/>
                </a:path>
                <a:path w="346075" h="346075">
                  <a:moveTo>
                    <a:pt x="345948" y="242442"/>
                  </a:moveTo>
                  <a:lnTo>
                    <a:pt x="296418" y="242442"/>
                  </a:lnTo>
                  <a:lnTo>
                    <a:pt x="298830" y="242950"/>
                  </a:lnTo>
                  <a:lnTo>
                    <a:pt x="300735" y="243966"/>
                  </a:lnTo>
                  <a:lnTo>
                    <a:pt x="301625" y="246379"/>
                  </a:lnTo>
                  <a:lnTo>
                    <a:pt x="302132" y="248285"/>
                  </a:lnTo>
                  <a:lnTo>
                    <a:pt x="301625" y="250698"/>
                  </a:lnTo>
                  <a:lnTo>
                    <a:pt x="300735" y="252602"/>
                  </a:lnTo>
                  <a:lnTo>
                    <a:pt x="298830" y="253618"/>
                  </a:lnTo>
                  <a:lnTo>
                    <a:pt x="296418" y="254000"/>
                  </a:lnTo>
                  <a:lnTo>
                    <a:pt x="345948" y="254000"/>
                  </a:lnTo>
                  <a:lnTo>
                    <a:pt x="345948" y="242442"/>
                  </a:lnTo>
                  <a:close/>
                </a:path>
                <a:path w="346075" h="346075">
                  <a:moveTo>
                    <a:pt x="345948" y="51942"/>
                  </a:moveTo>
                  <a:lnTo>
                    <a:pt x="151129" y="51942"/>
                  </a:lnTo>
                  <a:lnTo>
                    <a:pt x="153034" y="52450"/>
                  </a:lnTo>
                  <a:lnTo>
                    <a:pt x="155448" y="53466"/>
                  </a:lnTo>
                  <a:lnTo>
                    <a:pt x="156336" y="54863"/>
                  </a:lnTo>
                  <a:lnTo>
                    <a:pt x="156845" y="57276"/>
                  </a:lnTo>
                  <a:lnTo>
                    <a:pt x="156336" y="59689"/>
                  </a:lnTo>
                  <a:lnTo>
                    <a:pt x="155448" y="61087"/>
                  </a:lnTo>
                  <a:lnTo>
                    <a:pt x="82296" y="134238"/>
                  </a:lnTo>
                  <a:lnTo>
                    <a:pt x="80772" y="135636"/>
                  </a:lnTo>
                  <a:lnTo>
                    <a:pt x="345948" y="135636"/>
                  </a:lnTo>
                  <a:lnTo>
                    <a:pt x="345948" y="128524"/>
                  </a:lnTo>
                  <a:lnTo>
                    <a:pt x="179958" y="128524"/>
                  </a:lnTo>
                  <a:lnTo>
                    <a:pt x="176149" y="126491"/>
                  </a:lnTo>
                  <a:lnTo>
                    <a:pt x="174625" y="125094"/>
                  </a:lnTo>
                  <a:lnTo>
                    <a:pt x="174117" y="122174"/>
                  </a:lnTo>
                  <a:lnTo>
                    <a:pt x="174625" y="120268"/>
                  </a:lnTo>
                  <a:lnTo>
                    <a:pt x="176149" y="118872"/>
                  </a:lnTo>
                  <a:lnTo>
                    <a:pt x="178053" y="117348"/>
                  </a:lnTo>
                  <a:lnTo>
                    <a:pt x="179958" y="116966"/>
                  </a:lnTo>
                  <a:lnTo>
                    <a:pt x="345948" y="116966"/>
                  </a:lnTo>
                  <a:lnTo>
                    <a:pt x="345948" y="51942"/>
                  </a:lnTo>
                  <a:close/>
                </a:path>
                <a:path w="346075" h="346075">
                  <a:moveTo>
                    <a:pt x="345948" y="116966"/>
                  </a:moveTo>
                  <a:lnTo>
                    <a:pt x="296418" y="116966"/>
                  </a:lnTo>
                  <a:lnTo>
                    <a:pt x="298830" y="117348"/>
                  </a:lnTo>
                  <a:lnTo>
                    <a:pt x="300735" y="118872"/>
                  </a:lnTo>
                  <a:lnTo>
                    <a:pt x="301625" y="120268"/>
                  </a:lnTo>
                  <a:lnTo>
                    <a:pt x="302031" y="121792"/>
                  </a:lnTo>
                  <a:lnTo>
                    <a:pt x="302132" y="122174"/>
                  </a:lnTo>
                  <a:lnTo>
                    <a:pt x="301625" y="125094"/>
                  </a:lnTo>
                  <a:lnTo>
                    <a:pt x="300735" y="126491"/>
                  </a:lnTo>
                  <a:lnTo>
                    <a:pt x="298830" y="127508"/>
                  </a:lnTo>
                  <a:lnTo>
                    <a:pt x="296418" y="128524"/>
                  </a:lnTo>
                  <a:lnTo>
                    <a:pt x="345948" y="128524"/>
                  </a:lnTo>
                  <a:lnTo>
                    <a:pt x="345948" y="116966"/>
                  </a:lnTo>
                  <a:close/>
                </a:path>
                <a:path w="346075" h="346075">
                  <a:moveTo>
                    <a:pt x="105918" y="94741"/>
                  </a:moveTo>
                  <a:lnTo>
                    <a:pt x="49529" y="94741"/>
                  </a:lnTo>
                  <a:lnTo>
                    <a:pt x="51434" y="95250"/>
                  </a:lnTo>
                  <a:lnTo>
                    <a:pt x="53467" y="96774"/>
                  </a:lnTo>
                  <a:lnTo>
                    <a:pt x="78867" y="121792"/>
                  </a:lnTo>
                  <a:lnTo>
                    <a:pt x="105918" y="947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6">
            <a:extLst>
              <a:ext uri="{FF2B5EF4-FFF2-40B4-BE49-F238E27FC236}">
                <a16:creationId xmlns:a16="http://schemas.microsoft.com/office/drawing/2014/main" id="{38038256-2B98-159F-6E6A-88DB8AACCD77}"/>
              </a:ext>
            </a:extLst>
          </p:cNvPr>
          <p:cNvGrpSpPr/>
          <p:nvPr/>
        </p:nvGrpSpPr>
        <p:grpSpPr>
          <a:xfrm>
            <a:off x="3326765" y="5532120"/>
            <a:ext cx="940435" cy="940435"/>
            <a:chOff x="7475219" y="3240023"/>
            <a:chExt cx="940435" cy="940435"/>
          </a:xfrm>
        </p:grpSpPr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F9C42098-CA2F-D6A2-F5F7-2B61B2389C08}"/>
                </a:ext>
              </a:extLst>
            </p:cNvPr>
            <p:cNvSpPr/>
            <p:nvPr/>
          </p:nvSpPr>
          <p:spPr>
            <a:xfrm>
              <a:off x="7475219" y="3240023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3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3" y="940307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7" y="470153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1F0C1C80-A8CD-8200-DD2D-15B0E02BE019}"/>
                </a:ext>
              </a:extLst>
            </p:cNvPr>
            <p:cNvSpPr/>
            <p:nvPr/>
          </p:nvSpPr>
          <p:spPr>
            <a:xfrm>
              <a:off x="7760207" y="3528059"/>
              <a:ext cx="347980" cy="349250"/>
            </a:xfrm>
            <a:custGeom>
              <a:avLst/>
              <a:gdLst/>
              <a:ahLst/>
              <a:cxnLst/>
              <a:rect l="l" t="t" r="r" b="b"/>
              <a:pathLst>
                <a:path w="347979" h="349250">
                  <a:moveTo>
                    <a:pt x="241046" y="0"/>
                  </a:moveTo>
                  <a:lnTo>
                    <a:pt x="234061" y="0"/>
                  </a:lnTo>
                  <a:lnTo>
                    <a:pt x="224027" y="2286"/>
                  </a:lnTo>
                  <a:lnTo>
                    <a:pt x="205613" y="21209"/>
                  </a:lnTo>
                  <a:lnTo>
                    <a:pt x="204089" y="24384"/>
                  </a:lnTo>
                  <a:lnTo>
                    <a:pt x="203326" y="27812"/>
                  </a:lnTo>
                  <a:lnTo>
                    <a:pt x="202946" y="31241"/>
                  </a:lnTo>
                  <a:lnTo>
                    <a:pt x="202946" y="34798"/>
                  </a:lnTo>
                  <a:lnTo>
                    <a:pt x="203326" y="40639"/>
                  </a:lnTo>
                  <a:lnTo>
                    <a:pt x="204470" y="45592"/>
                  </a:lnTo>
                  <a:lnTo>
                    <a:pt x="206375" y="50673"/>
                  </a:lnTo>
                  <a:lnTo>
                    <a:pt x="209423" y="54863"/>
                  </a:lnTo>
                  <a:lnTo>
                    <a:pt x="149098" y="115188"/>
                  </a:lnTo>
                  <a:lnTo>
                    <a:pt x="145669" y="113283"/>
                  </a:lnTo>
                  <a:lnTo>
                    <a:pt x="141859" y="111632"/>
                  </a:lnTo>
                  <a:lnTo>
                    <a:pt x="137668" y="110489"/>
                  </a:lnTo>
                  <a:lnTo>
                    <a:pt x="133350" y="110108"/>
                  </a:lnTo>
                  <a:lnTo>
                    <a:pt x="127253" y="110870"/>
                  </a:lnTo>
                  <a:lnTo>
                    <a:pt x="124968" y="111632"/>
                  </a:lnTo>
                  <a:lnTo>
                    <a:pt x="122174" y="112902"/>
                  </a:lnTo>
                  <a:lnTo>
                    <a:pt x="119507" y="113664"/>
                  </a:lnTo>
                  <a:lnTo>
                    <a:pt x="114935" y="117093"/>
                  </a:lnTo>
                  <a:lnTo>
                    <a:pt x="110744" y="121031"/>
                  </a:lnTo>
                  <a:lnTo>
                    <a:pt x="106425" y="128269"/>
                  </a:lnTo>
                  <a:lnTo>
                    <a:pt x="104140" y="136397"/>
                  </a:lnTo>
                  <a:lnTo>
                    <a:pt x="104140" y="139572"/>
                  </a:lnTo>
                  <a:lnTo>
                    <a:pt x="105664" y="148081"/>
                  </a:lnTo>
                  <a:lnTo>
                    <a:pt x="106807" y="151891"/>
                  </a:lnTo>
                  <a:lnTo>
                    <a:pt x="109220" y="155701"/>
                  </a:lnTo>
                  <a:lnTo>
                    <a:pt x="51562" y="213740"/>
                  </a:lnTo>
                  <a:lnTo>
                    <a:pt x="47625" y="211454"/>
                  </a:lnTo>
                  <a:lnTo>
                    <a:pt x="39243" y="209803"/>
                  </a:lnTo>
                  <a:lnTo>
                    <a:pt x="34925" y="209422"/>
                  </a:lnTo>
                  <a:lnTo>
                    <a:pt x="31496" y="209422"/>
                  </a:lnTo>
                  <a:lnTo>
                    <a:pt x="21463" y="211835"/>
                  </a:lnTo>
                  <a:lnTo>
                    <a:pt x="18415" y="213740"/>
                  </a:lnTo>
                  <a:lnTo>
                    <a:pt x="15367" y="215264"/>
                  </a:lnTo>
                  <a:lnTo>
                    <a:pt x="12700" y="217169"/>
                  </a:lnTo>
                  <a:lnTo>
                    <a:pt x="10033" y="219582"/>
                  </a:lnTo>
                  <a:lnTo>
                    <a:pt x="6096" y="224535"/>
                  </a:lnTo>
                  <a:lnTo>
                    <a:pt x="4572" y="227583"/>
                  </a:lnTo>
                  <a:lnTo>
                    <a:pt x="2667" y="230758"/>
                  </a:lnTo>
                  <a:lnTo>
                    <a:pt x="1143" y="237362"/>
                  </a:lnTo>
                  <a:lnTo>
                    <a:pt x="0" y="240791"/>
                  </a:lnTo>
                  <a:lnTo>
                    <a:pt x="0" y="247776"/>
                  </a:lnTo>
                  <a:lnTo>
                    <a:pt x="1143" y="251206"/>
                  </a:lnTo>
                  <a:lnTo>
                    <a:pt x="2667" y="257809"/>
                  </a:lnTo>
                  <a:lnTo>
                    <a:pt x="4572" y="260857"/>
                  </a:lnTo>
                  <a:lnTo>
                    <a:pt x="31496" y="279019"/>
                  </a:lnTo>
                  <a:lnTo>
                    <a:pt x="38481" y="279019"/>
                  </a:lnTo>
                  <a:lnTo>
                    <a:pt x="63373" y="263906"/>
                  </a:lnTo>
                  <a:lnTo>
                    <a:pt x="65405" y="260857"/>
                  </a:lnTo>
                  <a:lnTo>
                    <a:pt x="66928" y="257809"/>
                  </a:lnTo>
                  <a:lnTo>
                    <a:pt x="68072" y="254634"/>
                  </a:lnTo>
                  <a:lnTo>
                    <a:pt x="69596" y="247776"/>
                  </a:lnTo>
                  <a:lnTo>
                    <a:pt x="69596" y="240791"/>
                  </a:lnTo>
                  <a:lnTo>
                    <a:pt x="69215" y="237744"/>
                  </a:lnTo>
                  <a:lnTo>
                    <a:pt x="68452" y="234569"/>
                  </a:lnTo>
                  <a:lnTo>
                    <a:pt x="66928" y="231520"/>
                  </a:lnTo>
                  <a:lnTo>
                    <a:pt x="65786" y="228472"/>
                  </a:lnTo>
                  <a:lnTo>
                    <a:pt x="64516" y="226059"/>
                  </a:lnTo>
                  <a:lnTo>
                    <a:pt x="62611" y="223392"/>
                  </a:lnTo>
                  <a:lnTo>
                    <a:pt x="60325" y="220725"/>
                  </a:lnTo>
                  <a:lnTo>
                    <a:pt x="117221" y="163829"/>
                  </a:lnTo>
                  <a:lnTo>
                    <a:pt x="121412" y="166242"/>
                  </a:lnTo>
                  <a:lnTo>
                    <a:pt x="126111" y="167385"/>
                  </a:lnTo>
                  <a:lnTo>
                    <a:pt x="120650" y="176656"/>
                  </a:lnTo>
                  <a:lnTo>
                    <a:pt x="107188" y="219582"/>
                  </a:lnTo>
                  <a:lnTo>
                    <a:pt x="104140" y="255904"/>
                  </a:lnTo>
                  <a:lnTo>
                    <a:pt x="104140" y="291083"/>
                  </a:lnTo>
                  <a:lnTo>
                    <a:pt x="85725" y="291083"/>
                  </a:lnTo>
                  <a:lnTo>
                    <a:pt x="83820" y="291845"/>
                  </a:lnTo>
                  <a:lnTo>
                    <a:pt x="82296" y="293750"/>
                  </a:lnTo>
                  <a:lnTo>
                    <a:pt x="81534" y="295275"/>
                  </a:lnTo>
                  <a:lnTo>
                    <a:pt x="81534" y="344296"/>
                  </a:lnTo>
                  <a:lnTo>
                    <a:pt x="82296" y="346328"/>
                  </a:lnTo>
                  <a:lnTo>
                    <a:pt x="83820" y="348233"/>
                  </a:lnTo>
                  <a:lnTo>
                    <a:pt x="85725" y="348995"/>
                  </a:lnTo>
                  <a:lnTo>
                    <a:pt x="134112" y="348995"/>
                  </a:lnTo>
                  <a:lnTo>
                    <a:pt x="136398" y="348233"/>
                  </a:lnTo>
                  <a:lnTo>
                    <a:pt x="137160" y="347090"/>
                  </a:lnTo>
                  <a:lnTo>
                    <a:pt x="138430" y="346328"/>
                  </a:lnTo>
                  <a:lnTo>
                    <a:pt x="139192" y="344296"/>
                  </a:lnTo>
                  <a:lnTo>
                    <a:pt x="139192" y="295275"/>
                  </a:lnTo>
                  <a:lnTo>
                    <a:pt x="138430" y="293750"/>
                  </a:lnTo>
                  <a:lnTo>
                    <a:pt x="136398" y="291845"/>
                  </a:lnTo>
                  <a:lnTo>
                    <a:pt x="134112" y="291083"/>
                  </a:lnTo>
                  <a:lnTo>
                    <a:pt x="116077" y="291083"/>
                  </a:lnTo>
                  <a:lnTo>
                    <a:pt x="116077" y="255904"/>
                  </a:lnTo>
                  <a:lnTo>
                    <a:pt x="121793" y="207517"/>
                  </a:lnTo>
                  <a:lnTo>
                    <a:pt x="131825" y="181228"/>
                  </a:lnTo>
                  <a:lnTo>
                    <a:pt x="133731" y="176656"/>
                  </a:lnTo>
                  <a:lnTo>
                    <a:pt x="136398" y="172338"/>
                  </a:lnTo>
                  <a:lnTo>
                    <a:pt x="139573" y="167766"/>
                  </a:lnTo>
                  <a:lnTo>
                    <a:pt x="143383" y="166623"/>
                  </a:lnTo>
                  <a:lnTo>
                    <a:pt x="151002" y="162306"/>
                  </a:lnTo>
                  <a:lnTo>
                    <a:pt x="154177" y="159638"/>
                  </a:lnTo>
                  <a:lnTo>
                    <a:pt x="159131" y="152653"/>
                  </a:lnTo>
                  <a:lnTo>
                    <a:pt x="160655" y="148081"/>
                  </a:lnTo>
                  <a:lnTo>
                    <a:pt x="161798" y="143763"/>
                  </a:lnTo>
                  <a:lnTo>
                    <a:pt x="171069" y="137540"/>
                  </a:lnTo>
                  <a:lnTo>
                    <a:pt x="176022" y="134492"/>
                  </a:lnTo>
                  <a:lnTo>
                    <a:pt x="181101" y="132206"/>
                  </a:lnTo>
                  <a:lnTo>
                    <a:pt x="186436" y="129412"/>
                  </a:lnTo>
                  <a:lnTo>
                    <a:pt x="227965" y="118237"/>
                  </a:lnTo>
                  <a:lnTo>
                    <a:pt x="234442" y="117093"/>
                  </a:lnTo>
                  <a:lnTo>
                    <a:pt x="247903" y="116331"/>
                  </a:lnTo>
                  <a:lnTo>
                    <a:pt x="289814" y="116331"/>
                  </a:lnTo>
                  <a:lnTo>
                    <a:pt x="289814" y="134492"/>
                  </a:lnTo>
                  <a:lnTo>
                    <a:pt x="290575" y="136778"/>
                  </a:lnTo>
                  <a:lnTo>
                    <a:pt x="292481" y="138810"/>
                  </a:lnTo>
                  <a:lnTo>
                    <a:pt x="294005" y="139572"/>
                  </a:lnTo>
                  <a:lnTo>
                    <a:pt x="342900" y="139572"/>
                  </a:lnTo>
                  <a:lnTo>
                    <a:pt x="344805" y="138810"/>
                  </a:lnTo>
                  <a:lnTo>
                    <a:pt x="345567" y="137540"/>
                  </a:lnTo>
                  <a:lnTo>
                    <a:pt x="346710" y="136778"/>
                  </a:lnTo>
                  <a:lnTo>
                    <a:pt x="347472" y="134492"/>
                  </a:lnTo>
                  <a:lnTo>
                    <a:pt x="347472" y="85851"/>
                  </a:lnTo>
                  <a:lnTo>
                    <a:pt x="346710" y="83819"/>
                  </a:lnTo>
                  <a:lnTo>
                    <a:pt x="344805" y="82295"/>
                  </a:lnTo>
                  <a:lnTo>
                    <a:pt x="342900" y="81533"/>
                  </a:lnTo>
                  <a:lnTo>
                    <a:pt x="341757" y="81533"/>
                  </a:lnTo>
                  <a:lnTo>
                    <a:pt x="294005" y="81533"/>
                  </a:lnTo>
                  <a:lnTo>
                    <a:pt x="291338" y="83057"/>
                  </a:lnTo>
                  <a:lnTo>
                    <a:pt x="290575" y="83819"/>
                  </a:lnTo>
                  <a:lnTo>
                    <a:pt x="289814" y="85851"/>
                  </a:lnTo>
                  <a:lnTo>
                    <a:pt x="289814" y="104775"/>
                  </a:lnTo>
                  <a:lnTo>
                    <a:pt x="254889" y="104775"/>
                  </a:lnTo>
                  <a:lnTo>
                    <a:pt x="241046" y="105156"/>
                  </a:lnTo>
                  <a:lnTo>
                    <a:pt x="221361" y="107060"/>
                  </a:lnTo>
                  <a:lnTo>
                    <a:pt x="215646" y="108584"/>
                  </a:lnTo>
                  <a:lnTo>
                    <a:pt x="203326" y="110870"/>
                  </a:lnTo>
                  <a:lnTo>
                    <a:pt x="197231" y="112902"/>
                  </a:lnTo>
                  <a:lnTo>
                    <a:pt x="191389" y="115188"/>
                  </a:lnTo>
                  <a:lnTo>
                    <a:pt x="186055" y="116712"/>
                  </a:lnTo>
                  <a:lnTo>
                    <a:pt x="175641" y="121792"/>
                  </a:lnTo>
                  <a:lnTo>
                    <a:pt x="170307" y="124840"/>
                  </a:lnTo>
                  <a:lnTo>
                    <a:pt x="165608" y="127126"/>
                  </a:lnTo>
                  <a:lnTo>
                    <a:pt x="160655" y="130301"/>
                  </a:lnTo>
                  <a:lnTo>
                    <a:pt x="159512" y="126745"/>
                  </a:lnTo>
                  <a:lnTo>
                    <a:pt x="157225" y="123316"/>
                  </a:lnTo>
                  <a:lnTo>
                    <a:pt x="217170" y="62991"/>
                  </a:lnTo>
                  <a:lnTo>
                    <a:pt x="226822" y="68072"/>
                  </a:lnTo>
                  <a:lnTo>
                    <a:pt x="229489" y="68834"/>
                  </a:lnTo>
                  <a:lnTo>
                    <a:pt x="234442" y="69595"/>
                  </a:lnTo>
                  <a:lnTo>
                    <a:pt x="241046" y="69595"/>
                  </a:lnTo>
                  <a:lnTo>
                    <a:pt x="247523" y="68072"/>
                  </a:lnTo>
                  <a:lnTo>
                    <a:pt x="250951" y="66801"/>
                  </a:lnTo>
                  <a:lnTo>
                    <a:pt x="254126" y="65277"/>
                  </a:lnTo>
                  <a:lnTo>
                    <a:pt x="256794" y="63373"/>
                  </a:lnTo>
                  <a:lnTo>
                    <a:pt x="259842" y="61849"/>
                  </a:lnTo>
                  <a:lnTo>
                    <a:pt x="264033" y="56768"/>
                  </a:lnTo>
                  <a:lnTo>
                    <a:pt x="266319" y="54482"/>
                  </a:lnTo>
                  <a:lnTo>
                    <a:pt x="269494" y="48260"/>
                  </a:lnTo>
                  <a:lnTo>
                    <a:pt x="270637" y="45212"/>
                  </a:lnTo>
                  <a:lnTo>
                    <a:pt x="271399" y="41782"/>
                  </a:lnTo>
                  <a:lnTo>
                    <a:pt x="271780" y="38226"/>
                  </a:lnTo>
                  <a:lnTo>
                    <a:pt x="272542" y="34798"/>
                  </a:lnTo>
                  <a:lnTo>
                    <a:pt x="271780" y="31241"/>
                  </a:lnTo>
                  <a:lnTo>
                    <a:pt x="271399" y="27812"/>
                  </a:lnTo>
                  <a:lnTo>
                    <a:pt x="270637" y="24384"/>
                  </a:lnTo>
                  <a:lnTo>
                    <a:pt x="250951" y="2286"/>
                  </a:lnTo>
                  <a:lnTo>
                    <a:pt x="241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21">
            <a:extLst>
              <a:ext uri="{FF2B5EF4-FFF2-40B4-BE49-F238E27FC236}">
                <a16:creationId xmlns:a16="http://schemas.microsoft.com/office/drawing/2014/main" id="{6D5967B2-D02D-5393-E2F6-E2E7CA9B0FDD}"/>
              </a:ext>
            </a:extLst>
          </p:cNvPr>
          <p:cNvGrpSpPr/>
          <p:nvPr/>
        </p:nvGrpSpPr>
        <p:grpSpPr>
          <a:xfrm>
            <a:off x="3992880" y="3242945"/>
            <a:ext cx="940435" cy="940435"/>
            <a:chOff x="6832092" y="5055108"/>
            <a:chExt cx="940435" cy="940435"/>
          </a:xfrm>
        </p:grpSpPr>
        <p:sp>
          <p:nvSpPr>
            <p:cNvPr id="19" name="object 22">
              <a:extLst>
                <a:ext uri="{FF2B5EF4-FFF2-40B4-BE49-F238E27FC236}">
                  <a16:creationId xmlns:a16="http://schemas.microsoft.com/office/drawing/2014/main" id="{43CA0147-AEA3-6C88-843C-7751260D0A80}"/>
                </a:ext>
              </a:extLst>
            </p:cNvPr>
            <p:cNvSpPr/>
            <p:nvPr/>
          </p:nvSpPr>
          <p:spPr>
            <a:xfrm>
              <a:off x="6832092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3">
              <a:extLst>
                <a:ext uri="{FF2B5EF4-FFF2-40B4-BE49-F238E27FC236}">
                  <a16:creationId xmlns:a16="http://schemas.microsoft.com/office/drawing/2014/main" id="{69904904-1782-D99A-3D0E-E37B57FB672D}"/>
                </a:ext>
              </a:extLst>
            </p:cNvPr>
            <p:cNvSpPr/>
            <p:nvPr/>
          </p:nvSpPr>
          <p:spPr>
            <a:xfrm>
              <a:off x="7127748" y="5343652"/>
              <a:ext cx="346075" cy="345440"/>
            </a:xfrm>
            <a:custGeom>
              <a:avLst/>
              <a:gdLst/>
              <a:ahLst/>
              <a:cxnLst/>
              <a:rect l="l" t="t" r="r" b="b"/>
              <a:pathLst>
                <a:path w="346075" h="345439">
                  <a:moveTo>
                    <a:pt x="344424" y="344170"/>
                  </a:moveTo>
                  <a:lnTo>
                    <a:pt x="2285" y="344170"/>
                  </a:lnTo>
                  <a:lnTo>
                    <a:pt x="3048" y="345440"/>
                  </a:lnTo>
                  <a:lnTo>
                    <a:pt x="342137" y="345440"/>
                  </a:lnTo>
                  <a:lnTo>
                    <a:pt x="344424" y="344170"/>
                  </a:lnTo>
                  <a:close/>
                </a:path>
                <a:path w="346075" h="345439">
                  <a:moveTo>
                    <a:pt x="345567" y="341630"/>
                  </a:moveTo>
                  <a:lnTo>
                    <a:pt x="761" y="341630"/>
                  </a:lnTo>
                  <a:lnTo>
                    <a:pt x="1143" y="344170"/>
                  </a:lnTo>
                  <a:lnTo>
                    <a:pt x="345185" y="344170"/>
                  </a:lnTo>
                  <a:lnTo>
                    <a:pt x="345567" y="341630"/>
                  </a:lnTo>
                  <a:close/>
                </a:path>
                <a:path w="346075" h="345439">
                  <a:moveTo>
                    <a:pt x="343661" y="1269"/>
                  </a:moveTo>
                  <a:lnTo>
                    <a:pt x="3048" y="1269"/>
                  </a:lnTo>
                  <a:lnTo>
                    <a:pt x="2285" y="2540"/>
                  </a:lnTo>
                  <a:lnTo>
                    <a:pt x="1143" y="2540"/>
                  </a:lnTo>
                  <a:lnTo>
                    <a:pt x="0" y="6350"/>
                  </a:lnTo>
                  <a:lnTo>
                    <a:pt x="0" y="340359"/>
                  </a:lnTo>
                  <a:lnTo>
                    <a:pt x="380" y="341630"/>
                  </a:lnTo>
                  <a:lnTo>
                    <a:pt x="345948" y="341630"/>
                  </a:lnTo>
                  <a:lnTo>
                    <a:pt x="345948" y="294640"/>
                  </a:lnTo>
                  <a:lnTo>
                    <a:pt x="98298" y="294640"/>
                  </a:lnTo>
                  <a:lnTo>
                    <a:pt x="95884" y="293370"/>
                  </a:lnTo>
                  <a:lnTo>
                    <a:pt x="93599" y="293370"/>
                  </a:lnTo>
                  <a:lnTo>
                    <a:pt x="89026" y="292100"/>
                  </a:lnTo>
                  <a:lnTo>
                    <a:pt x="87122" y="290830"/>
                  </a:lnTo>
                  <a:lnTo>
                    <a:pt x="85471" y="290830"/>
                  </a:lnTo>
                  <a:lnTo>
                    <a:pt x="83184" y="288290"/>
                  </a:lnTo>
                  <a:lnTo>
                    <a:pt x="81660" y="287020"/>
                  </a:lnTo>
                  <a:lnTo>
                    <a:pt x="79375" y="284480"/>
                  </a:lnTo>
                  <a:lnTo>
                    <a:pt x="78231" y="281940"/>
                  </a:lnTo>
                  <a:lnTo>
                    <a:pt x="77088" y="280670"/>
                  </a:lnTo>
                  <a:lnTo>
                    <a:pt x="75565" y="275590"/>
                  </a:lnTo>
                  <a:lnTo>
                    <a:pt x="75183" y="273050"/>
                  </a:lnTo>
                  <a:lnTo>
                    <a:pt x="75183" y="269240"/>
                  </a:lnTo>
                  <a:lnTo>
                    <a:pt x="75565" y="266700"/>
                  </a:lnTo>
                  <a:lnTo>
                    <a:pt x="77088" y="261620"/>
                  </a:lnTo>
                  <a:lnTo>
                    <a:pt x="78231" y="260350"/>
                  </a:lnTo>
                  <a:lnTo>
                    <a:pt x="79375" y="257809"/>
                  </a:lnTo>
                  <a:lnTo>
                    <a:pt x="81660" y="255270"/>
                  </a:lnTo>
                  <a:lnTo>
                    <a:pt x="83184" y="252730"/>
                  </a:lnTo>
                  <a:lnTo>
                    <a:pt x="85471" y="251459"/>
                  </a:lnTo>
                  <a:lnTo>
                    <a:pt x="87122" y="251459"/>
                  </a:lnTo>
                  <a:lnTo>
                    <a:pt x="89026" y="250190"/>
                  </a:lnTo>
                  <a:lnTo>
                    <a:pt x="91312" y="248920"/>
                  </a:lnTo>
                  <a:lnTo>
                    <a:pt x="93599" y="248920"/>
                  </a:lnTo>
                  <a:lnTo>
                    <a:pt x="95884" y="247650"/>
                  </a:lnTo>
                  <a:lnTo>
                    <a:pt x="345948" y="247650"/>
                  </a:lnTo>
                  <a:lnTo>
                    <a:pt x="345948" y="214630"/>
                  </a:lnTo>
                  <a:lnTo>
                    <a:pt x="94742" y="214630"/>
                  </a:lnTo>
                  <a:lnTo>
                    <a:pt x="93218" y="212090"/>
                  </a:lnTo>
                  <a:lnTo>
                    <a:pt x="92836" y="212090"/>
                  </a:lnTo>
                  <a:lnTo>
                    <a:pt x="92455" y="210820"/>
                  </a:lnTo>
                  <a:lnTo>
                    <a:pt x="92455" y="161290"/>
                  </a:lnTo>
                  <a:lnTo>
                    <a:pt x="71627" y="161290"/>
                  </a:lnTo>
                  <a:lnTo>
                    <a:pt x="70866" y="160020"/>
                  </a:lnTo>
                  <a:lnTo>
                    <a:pt x="70484" y="158750"/>
                  </a:lnTo>
                  <a:lnTo>
                    <a:pt x="69723" y="158750"/>
                  </a:lnTo>
                  <a:lnTo>
                    <a:pt x="69342" y="157480"/>
                  </a:lnTo>
                  <a:lnTo>
                    <a:pt x="69342" y="132080"/>
                  </a:lnTo>
                  <a:lnTo>
                    <a:pt x="69723" y="130810"/>
                  </a:lnTo>
                  <a:lnTo>
                    <a:pt x="70484" y="129540"/>
                  </a:lnTo>
                  <a:lnTo>
                    <a:pt x="70866" y="128269"/>
                  </a:lnTo>
                  <a:lnTo>
                    <a:pt x="73151" y="128269"/>
                  </a:lnTo>
                  <a:lnTo>
                    <a:pt x="73913" y="127000"/>
                  </a:lnTo>
                  <a:lnTo>
                    <a:pt x="92455" y="127000"/>
                  </a:lnTo>
                  <a:lnTo>
                    <a:pt x="92455" y="48260"/>
                  </a:lnTo>
                  <a:lnTo>
                    <a:pt x="92836" y="46990"/>
                  </a:lnTo>
                  <a:lnTo>
                    <a:pt x="93218" y="46990"/>
                  </a:lnTo>
                  <a:lnTo>
                    <a:pt x="93979" y="45719"/>
                  </a:lnTo>
                  <a:lnTo>
                    <a:pt x="97027" y="44450"/>
                  </a:lnTo>
                  <a:lnTo>
                    <a:pt x="345948" y="44450"/>
                  </a:lnTo>
                  <a:lnTo>
                    <a:pt x="345948" y="5080"/>
                  </a:lnTo>
                  <a:lnTo>
                    <a:pt x="345185" y="2540"/>
                  </a:lnTo>
                  <a:lnTo>
                    <a:pt x="343661" y="1269"/>
                  </a:lnTo>
                  <a:close/>
                </a:path>
                <a:path w="346075" h="345439">
                  <a:moveTo>
                    <a:pt x="176402" y="293370"/>
                  </a:moveTo>
                  <a:lnTo>
                    <a:pt x="100583" y="293370"/>
                  </a:lnTo>
                  <a:lnTo>
                    <a:pt x="98298" y="294640"/>
                  </a:lnTo>
                  <a:lnTo>
                    <a:pt x="179197" y="294640"/>
                  </a:lnTo>
                  <a:lnTo>
                    <a:pt x="176402" y="293370"/>
                  </a:lnTo>
                  <a:close/>
                </a:path>
                <a:path w="346075" h="345439">
                  <a:moveTo>
                    <a:pt x="245745" y="293370"/>
                  </a:moveTo>
                  <a:lnTo>
                    <a:pt x="181101" y="293370"/>
                  </a:lnTo>
                  <a:lnTo>
                    <a:pt x="179197" y="294640"/>
                  </a:lnTo>
                  <a:lnTo>
                    <a:pt x="247650" y="294640"/>
                  </a:lnTo>
                  <a:lnTo>
                    <a:pt x="245745" y="293370"/>
                  </a:lnTo>
                  <a:close/>
                </a:path>
                <a:path w="346075" h="345439">
                  <a:moveTo>
                    <a:pt x="345948" y="247650"/>
                  </a:moveTo>
                  <a:lnTo>
                    <a:pt x="250444" y="247650"/>
                  </a:lnTo>
                  <a:lnTo>
                    <a:pt x="252729" y="248920"/>
                  </a:lnTo>
                  <a:lnTo>
                    <a:pt x="255016" y="248920"/>
                  </a:lnTo>
                  <a:lnTo>
                    <a:pt x="258825" y="251459"/>
                  </a:lnTo>
                  <a:lnTo>
                    <a:pt x="261238" y="251459"/>
                  </a:lnTo>
                  <a:lnTo>
                    <a:pt x="265810" y="256540"/>
                  </a:lnTo>
                  <a:lnTo>
                    <a:pt x="267334" y="257809"/>
                  </a:lnTo>
                  <a:lnTo>
                    <a:pt x="268477" y="260350"/>
                  </a:lnTo>
                  <a:lnTo>
                    <a:pt x="269240" y="261620"/>
                  </a:lnTo>
                  <a:lnTo>
                    <a:pt x="270001" y="264159"/>
                  </a:lnTo>
                  <a:lnTo>
                    <a:pt x="270763" y="269240"/>
                  </a:lnTo>
                  <a:lnTo>
                    <a:pt x="270763" y="273050"/>
                  </a:lnTo>
                  <a:lnTo>
                    <a:pt x="270001" y="278130"/>
                  </a:lnTo>
                  <a:lnTo>
                    <a:pt x="269240" y="280670"/>
                  </a:lnTo>
                  <a:lnTo>
                    <a:pt x="267334" y="284480"/>
                  </a:lnTo>
                  <a:lnTo>
                    <a:pt x="261238" y="290830"/>
                  </a:lnTo>
                  <a:lnTo>
                    <a:pt x="258825" y="290830"/>
                  </a:lnTo>
                  <a:lnTo>
                    <a:pt x="255016" y="293370"/>
                  </a:lnTo>
                  <a:lnTo>
                    <a:pt x="250444" y="293370"/>
                  </a:lnTo>
                  <a:lnTo>
                    <a:pt x="247650" y="294640"/>
                  </a:lnTo>
                  <a:lnTo>
                    <a:pt x="345948" y="294640"/>
                  </a:lnTo>
                  <a:lnTo>
                    <a:pt x="345948" y="247650"/>
                  </a:lnTo>
                  <a:close/>
                </a:path>
                <a:path w="346075" h="345439">
                  <a:moveTo>
                    <a:pt x="168021" y="290830"/>
                  </a:moveTo>
                  <a:lnTo>
                    <a:pt x="109347" y="290830"/>
                  </a:lnTo>
                  <a:lnTo>
                    <a:pt x="107060" y="292100"/>
                  </a:lnTo>
                  <a:lnTo>
                    <a:pt x="105155" y="293370"/>
                  </a:lnTo>
                  <a:lnTo>
                    <a:pt x="171830" y="293370"/>
                  </a:lnTo>
                  <a:lnTo>
                    <a:pt x="168021" y="290830"/>
                  </a:lnTo>
                  <a:close/>
                </a:path>
                <a:path w="346075" h="345439">
                  <a:moveTo>
                    <a:pt x="237362" y="290830"/>
                  </a:moveTo>
                  <a:lnTo>
                    <a:pt x="189483" y="290830"/>
                  </a:lnTo>
                  <a:lnTo>
                    <a:pt x="185674" y="293370"/>
                  </a:lnTo>
                  <a:lnTo>
                    <a:pt x="241173" y="293370"/>
                  </a:lnTo>
                  <a:lnTo>
                    <a:pt x="237362" y="290830"/>
                  </a:lnTo>
                  <a:close/>
                </a:path>
                <a:path w="346075" h="345439">
                  <a:moveTo>
                    <a:pt x="165607" y="251459"/>
                  </a:moveTo>
                  <a:lnTo>
                    <a:pt x="110998" y="251459"/>
                  </a:lnTo>
                  <a:lnTo>
                    <a:pt x="114807" y="255270"/>
                  </a:lnTo>
                  <a:lnTo>
                    <a:pt x="117094" y="257809"/>
                  </a:lnTo>
                  <a:lnTo>
                    <a:pt x="118236" y="260350"/>
                  </a:lnTo>
                  <a:lnTo>
                    <a:pt x="119760" y="261620"/>
                  </a:lnTo>
                  <a:lnTo>
                    <a:pt x="120142" y="264159"/>
                  </a:lnTo>
                  <a:lnTo>
                    <a:pt x="120903" y="266700"/>
                  </a:lnTo>
                  <a:lnTo>
                    <a:pt x="121411" y="269240"/>
                  </a:lnTo>
                  <a:lnTo>
                    <a:pt x="121411" y="273050"/>
                  </a:lnTo>
                  <a:lnTo>
                    <a:pt x="120903" y="275590"/>
                  </a:lnTo>
                  <a:lnTo>
                    <a:pt x="120142" y="278130"/>
                  </a:lnTo>
                  <a:lnTo>
                    <a:pt x="119760" y="280670"/>
                  </a:lnTo>
                  <a:lnTo>
                    <a:pt x="118236" y="281940"/>
                  </a:lnTo>
                  <a:lnTo>
                    <a:pt x="117094" y="284480"/>
                  </a:lnTo>
                  <a:lnTo>
                    <a:pt x="114807" y="287020"/>
                  </a:lnTo>
                  <a:lnTo>
                    <a:pt x="110998" y="290830"/>
                  </a:lnTo>
                  <a:lnTo>
                    <a:pt x="165607" y="290830"/>
                  </a:lnTo>
                  <a:lnTo>
                    <a:pt x="162559" y="287020"/>
                  </a:lnTo>
                  <a:lnTo>
                    <a:pt x="161417" y="285750"/>
                  </a:lnTo>
                  <a:lnTo>
                    <a:pt x="159511" y="284480"/>
                  </a:lnTo>
                  <a:lnTo>
                    <a:pt x="158750" y="281940"/>
                  </a:lnTo>
                  <a:lnTo>
                    <a:pt x="157606" y="280670"/>
                  </a:lnTo>
                  <a:lnTo>
                    <a:pt x="156845" y="278130"/>
                  </a:lnTo>
                  <a:lnTo>
                    <a:pt x="156082" y="273050"/>
                  </a:lnTo>
                  <a:lnTo>
                    <a:pt x="156082" y="269240"/>
                  </a:lnTo>
                  <a:lnTo>
                    <a:pt x="156845" y="264159"/>
                  </a:lnTo>
                  <a:lnTo>
                    <a:pt x="157606" y="261620"/>
                  </a:lnTo>
                  <a:lnTo>
                    <a:pt x="159511" y="257809"/>
                  </a:lnTo>
                  <a:lnTo>
                    <a:pt x="161417" y="256540"/>
                  </a:lnTo>
                  <a:lnTo>
                    <a:pt x="162559" y="255270"/>
                  </a:lnTo>
                  <a:lnTo>
                    <a:pt x="165607" y="251459"/>
                  </a:lnTo>
                  <a:close/>
                </a:path>
                <a:path w="346075" h="345439">
                  <a:moveTo>
                    <a:pt x="234950" y="251459"/>
                  </a:moveTo>
                  <a:lnTo>
                    <a:pt x="191897" y="251459"/>
                  </a:lnTo>
                  <a:lnTo>
                    <a:pt x="194945" y="255270"/>
                  </a:lnTo>
                  <a:lnTo>
                    <a:pt x="196850" y="256540"/>
                  </a:lnTo>
                  <a:lnTo>
                    <a:pt x="197993" y="257809"/>
                  </a:lnTo>
                  <a:lnTo>
                    <a:pt x="199135" y="260350"/>
                  </a:lnTo>
                  <a:lnTo>
                    <a:pt x="199898" y="261620"/>
                  </a:lnTo>
                  <a:lnTo>
                    <a:pt x="200659" y="264159"/>
                  </a:lnTo>
                  <a:lnTo>
                    <a:pt x="201041" y="266700"/>
                  </a:lnTo>
                  <a:lnTo>
                    <a:pt x="201929" y="269240"/>
                  </a:lnTo>
                  <a:lnTo>
                    <a:pt x="202310" y="270509"/>
                  </a:lnTo>
                  <a:lnTo>
                    <a:pt x="201929" y="273050"/>
                  </a:lnTo>
                  <a:lnTo>
                    <a:pt x="201041" y="275590"/>
                  </a:lnTo>
                  <a:lnTo>
                    <a:pt x="200659" y="278130"/>
                  </a:lnTo>
                  <a:lnTo>
                    <a:pt x="199898" y="280670"/>
                  </a:lnTo>
                  <a:lnTo>
                    <a:pt x="197993" y="284480"/>
                  </a:lnTo>
                  <a:lnTo>
                    <a:pt x="196850" y="285750"/>
                  </a:lnTo>
                  <a:lnTo>
                    <a:pt x="194945" y="287020"/>
                  </a:lnTo>
                  <a:lnTo>
                    <a:pt x="191897" y="290830"/>
                  </a:lnTo>
                  <a:lnTo>
                    <a:pt x="234950" y="290830"/>
                  </a:lnTo>
                  <a:lnTo>
                    <a:pt x="231901" y="287020"/>
                  </a:lnTo>
                  <a:lnTo>
                    <a:pt x="229997" y="285750"/>
                  </a:lnTo>
                  <a:lnTo>
                    <a:pt x="228853" y="284480"/>
                  </a:lnTo>
                  <a:lnTo>
                    <a:pt x="226949" y="280670"/>
                  </a:lnTo>
                  <a:lnTo>
                    <a:pt x="226186" y="278130"/>
                  </a:lnTo>
                  <a:lnTo>
                    <a:pt x="225805" y="275590"/>
                  </a:lnTo>
                  <a:lnTo>
                    <a:pt x="225044" y="273050"/>
                  </a:lnTo>
                  <a:lnTo>
                    <a:pt x="224535" y="270509"/>
                  </a:lnTo>
                  <a:lnTo>
                    <a:pt x="225044" y="269240"/>
                  </a:lnTo>
                  <a:lnTo>
                    <a:pt x="225805" y="266700"/>
                  </a:lnTo>
                  <a:lnTo>
                    <a:pt x="226186" y="264159"/>
                  </a:lnTo>
                  <a:lnTo>
                    <a:pt x="226949" y="261620"/>
                  </a:lnTo>
                  <a:lnTo>
                    <a:pt x="227710" y="260350"/>
                  </a:lnTo>
                  <a:lnTo>
                    <a:pt x="228853" y="257809"/>
                  </a:lnTo>
                  <a:lnTo>
                    <a:pt x="229997" y="256540"/>
                  </a:lnTo>
                  <a:lnTo>
                    <a:pt x="231901" y="255270"/>
                  </a:lnTo>
                  <a:lnTo>
                    <a:pt x="234950" y="251459"/>
                  </a:lnTo>
                  <a:close/>
                </a:path>
                <a:path w="346075" h="345439">
                  <a:moveTo>
                    <a:pt x="171830" y="248920"/>
                  </a:moveTo>
                  <a:lnTo>
                    <a:pt x="105155" y="248920"/>
                  </a:lnTo>
                  <a:lnTo>
                    <a:pt x="107060" y="250190"/>
                  </a:lnTo>
                  <a:lnTo>
                    <a:pt x="109347" y="251459"/>
                  </a:lnTo>
                  <a:lnTo>
                    <a:pt x="168021" y="251459"/>
                  </a:lnTo>
                  <a:lnTo>
                    <a:pt x="171830" y="248920"/>
                  </a:lnTo>
                  <a:close/>
                </a:path>
                <a:path w="346075" h="345439">
                  <a:moveTo>
                    <a:pt x="241173" y="248920"/>
                  </a:moveTo>
                  <a:lnTo>
                    <a:pt x="185674" y="248920"/>
                  </a:lnTo>
                  <a:lnTo>
                    <a:pt x="189483" y="251459"/>
                  </a:lnTo>
                  <a:lnTo>
                    <a:pt x="237362" y="251459"/>
                  </a:lnTo>
                  <a:lnTo>
                    <a:pt x="241173" y="248920"/>
                  </a:lnTo>
                  <a:close/>
                </a:path>
                <a:path w="346075" h="345439">
                  <a:moveTo>
                    <a:pt x="176402" y="247650"/>
                  </a:moveTo>
                  <a:lnTo>
                    <a:pt x="100583" y="247650"/>
                  </a:lnTo>
                  <a:lnTo>
                    <a:pt x="102870" y="248920"/>
                  </a:lnTo>
                  <a:lnTo>
                    <a:pt x="174117" y="248920"/>
                  </a:lnTo>
                  <a:lnTo>
                    <a:pt x="176402" y="247650"/>
                  </a:lnTo>
                  <a:close/>
                </a:path>
                <a:path w="346075" h="345439">
                  <a:moveTo>
                    <a:pt x="245745" y="247650"/>
                  </a:moveTo>
                  <a:lnTo>
                    <a:pt x="181101" y="247650"/>
                  </a:lnTo>
                  <a:lnTo>
                    <a:pt x="183387" y="248920"/>
                  </a:lnTo>
                  <a:lnTo>
                    <a:pt x="243458" y="248920"/>
                  </a:lnTo>
                  <a:lnTo>
                    <a:pt x="245745" y="247650"/>
                  </a:lnTo>
                  <a:close/>
                </a:path>
                <a:path w="346075" h="345439">
                  <a:moveTo>
                    <a:pt x="174117" y="212090"/>
                  </a:moveTo>
                  <a:lnTo>
                    <a:pt x="103250" y="212090"/>
                  </a:lnTo>
                  <a:lnTo>
                    <a:pt x="102488" y="213359"/>
                  </a:lnTo>
                  <a:lnTo>
                    <a:pt x="101346" y="214630"/>
                  </a:lnTo>
                  <a:lnTo>
                    <a:pt x="175641" y="214630"/>
                  </a:lnTo>
                  <a:lnTo>
                    <a:pt x="174117" y="212090"/>
                  </a:lnTo>
                  <a:close/>
                </a:path>
                <a:path w="346075" h="345439">
                  <a:moveTo>
                    <a:pt x="243458" y="212090"/>
                  </a:moveTo>
                  <a:lnTo>
                    <a:pt x="183387" y="212090"/>
                  </a:lnTo>
                  <a:lnTo>
                    <a:pt x="183006" y="213359"/>
                  </a:lnTo>
                  <a:lnTo>
                    <a:pt x="181863" y="214630"/>
                  </a:lnTo>
                  <a:lnTo>
                    <a:pt x="244982" y="214630"/>
                  </a:lnTo>
                  <a:lnTo>
                    <a:pt x="243458" y="212090"/>
                  </a:lnTo>
                  <a:close/>
                </a:path>
                <a:path w="346075" h="345439">
                  <a:moveTo>
                    <a:pt x="345948" y="44450"/>
                  </a:moveTo>
                  <a:lnTo>
                    <a:pt x="250444" y="44450"/>
                  </a:lnTo>
                  <a:lnTo>
                    <a:pt x="251205" y="45719"/>
                  </a:lnTo>
                  <a:lnTo>
                    <a:pt x="251968" y="45719"/>
                  </a:lnTo>
                  <a:lnTo>
                    <a:pt x="252729" y="46990"/>
                  </a:lnTo>
                  <a:lnTo>
                    <a:pt x="253110" y="46990"/>
                  </a:lnTo>
                  <a:lnTo>
                    <a:pt x="253492" y="49530"/>
                  </a:lnTo>
                  <a:lnTo>
                    <a:pt x="253492" y="149859"/>
                  </a:lnTo>
                  <a:lnTo>
                    <a:pt x="272033" y="149859"/>
                  </a:lnTo>
                  <a:lnTo>
                    <a:pt x="273557" y="151130"/>
                  </a:lnTo>
                  <a:lnTo>
                    <a:pt x="274320" y="151130"/>
                  </a:lnTo>
                  <a:lnTo>
                    <a:pt x="275844" y="152400"/>
                  </a:lnTo>
                  <a:lnTo>
                    <a:pt x="276605" y="154940"/>
                  </a:lnTo>
                  <a:lnTo>
                    <a:pt x="276605" y="180340"/>
                  </a:lnTo>
                  <a:lnTo>
                    <a:pt x="276225" y="181609"/>
                  </a:lnTo>
                  <a:lnTo>
                    <a:pt x="275844" y="181609"/>
                  </a:lnTo>
                  <a:lnTo>
                    <a:pt x="274320" y="184150"/>
                  </a:lnTo>
                  <a:lnTo>
                    <a:pt x="253492" y="184150"/>
                  </a:lnTo>
                  <a:lnTo>
                    <a:pt x="253492" y="210820"/>
                  </a:lnTo>
                  <a:lnTo>
                    <a:pt x="253110" y="212090"/>
                  </a:lnTo>
                  <a:lnTo>
                    <a:pt x="252729" y="212090"/>
                  </a:lnTo>
                  <a:lnTo>
                    <a:pt x="251205" y="214630"/>
                  </a:lnTo>
                  <a:lnTo>
                    <a:pt x="345948" y="214630"/>
                  </a:lnTo>
                  <a:lnTo>
                    <a:pt x="345948" y="44450"/>
                  </a:lnTo>
                  <a:close/>
                </a:path>
                <a:path w="346075" h="345439">
                  <a:moveTo>
                    <a:pt x="173735" y="46990"/>
                  </a:moveTo>
                  <a:lnTo>
                    <a:pt x="103631" y="46990"/>
                  </a:lnTo>
                  <a:lnTo>
                    <a:pt x="104012" y="49530"/>
                  </a:lnTo>
                  <a:lnTo>
                    <a:pt x="104012" y="127000"/>
                  </a:lnTo>
                  <a:lnTo>
                    <a:pt x="122554" y="127000"/>
                  </a:lnTo>
                  <a:lnTo>
                    <a:pt x="123317" y="128269"/>
                  </a:lnTo>
                  <a:lnTo>
                    <a:pt x="125602" y="128269"/>
                  </a:lnTo>
                  <a:lnTo>
                    <a:pt x="126365" y="129540"/>
                  </a:lnTo>
                  <a:lnTo>
                    <a:pt x="127126" y="132080"/>
                  </a:lnTo>
                  <a:lnTo>
                    <a:pt x="127126" y="157480"/>
                  </a:lnTo>
                  <a:lnTo>
                    <a:pt x="126746" y="158750"/>
                  </a:lnTo>
                  <a:lnTo>
                    <a:pt x="126365" y="158750"/>
                  </a:lnTo>
                  <a:lnTo>
                    <a:pt x="124459" y="161290"/>
                  </a:lnTo>
                  <a:lnTo>
                    <a:pt x="104012" y="161290"/>
                  </a:lnTo>
                  <a:lnTo>
                    <a:pt x="104012" y="210820"/>
                  </a:lnTo>
                  <a:lnTo>
                    <a:pt x="103631" y="212090"/>
                  </a:lnTo>
                  <a:lnTo>
                    <a:pt x="173735" y="212090"/>
                  </a:lnTo>
                  <a:lnTo>
                    <a:pt x="173354" y="210820"/>
                  </a:lnTo>
                  <a:lnTo>
                    <a:pt x="173354" y="115569"/>
                  </a:lnTo>
                  <a:lnTo>
                    <a:pt x="153288" y="115569"/>
                  </a:lnTo>
                  <a:lnTo>
                    <a:pt x="151765" y="114300"/>
                  </a:lnTo>
                  <a:lnTo>
                    <a:pt x="151002" y="113030"/>
                  </a:lnTo>
                  <a:lnTo>
                    <a:pt x="150241" y="110490"/>
                  </a:lnTo>
                  <a:lnTo>
                    <a:pt x="150241" y="85090"/>
                  </a:lnTo>
                  <a:lnTo>
                    <a:pt x="150622" y="85090"/>
                  </a:lnTo>
                  <a:lnTo>
                    <a:pt x="151002" y="83819"/>
                  </a:lnTo>
                  <a:lnTo>
                    <a:pt x="152526" y="81280"/>
                  </a:lnTo>
                  <a:lnTo>
                    <a:pt x="173354" y="81280"/>
                  </a:lnTo>
                  <a:lnTo>
                    <a:pt x="173354" y="48260"/>
                  </a:lnTo>
                  <a:lnTo>
                    <a:pt x="173735" y="46990"/>
                  </a:lnTo>
                  <a:close/>
                </a:path>
                <a:path w="346075" h="345439">
                  <a:moveTo>
                    <a:pt x="243077" y="46990"/>
                  </a:moveTo>
                  <a:lnTo>
                    <a:pt x="184530" y="46990"/>
                  </a:lnTo>
                  <a:lnTo>
                    <a:pt x="184530" y="49530"/>
                  </a:lnTo>
                  <a:lnTo>
                    <a:pt x="184911" y="49530"/>
                  </a:lnTo>
                  <a:lnTo>
                    <a:pt x="184911" y="81280"/>
                  </a:lnTo>
                  <a:lnTo>
                    <a:pt x="204977" y="81280"/>
                  </a:lnTo>
                  <a:lnTo>
                    <a:pt x="206501" y="83819"/>
                  </a:lnTo>
                  <a:lnTo>
                    <a:pt x="206882" y="85090"/>
                  </a:lnTo>
                  <a:lnTo>
                    <a:pt x="207263" y="85090"/>
                  </a:lnTo>
                  <a:lnTo>
                    <a:pt x="208025" y="86360"/>
                  </a:lnTo>
                  <a:lnTo>
                    <a:pt x="208025" y="109219"/>
                  </a:lnTo>
                  <a:lnTo>
                    <a:pt x="207263" y="110490"/>
                  </a:lnTo>
                  <a:lnTo>
                    <a:pt x="206501" y="113030"/>
                  </a:lnTo>
                  <a:lnTo>
                    <a:pt x="205740" y="114300"/>
                  </a:lnTo>
                  <a:lnTo>
                    <a:pt x="204216" y="115569"/>
                  </a:lnTo>
                  <a:lnTo>
                    <a:pt x="184911" y="115569"/>
                  </a:lnTo>
                  <a:lnTo>
                    <a:pt x="184911" y="209550"/>
                  </a:lnTo>
                  <a:lnTo>
                    <a:pt x="184530" y="210820"/>
                  </a:lnTo>
                  <a:lnTo>
                    <a:pt x="184530" y="212090"/>
                  </a:lnTo>
                  <a:lnTo>
                    <a:pt x="243077" y="212090"/>
                  </a:lnTo>
                  <a:lnTo>
                    <a:pt x="242316" y="210820"/>
                  </a:lnTo>
                  <a:lnTo>
                    <a:pt x="241934" y="209550"/>
                  </a:lnTo>
                  <a:lnTo>
                    <a:pt x="241934" y="184150"/>
                  </a:lnTo>
                  <a:lnTo>
                    <a:pt x="221869" y="184150"/>
                  </a:lnTo>
                  <a:lnTo>
                    <a:pt x="220345" y="181609"/>
                  </a:lnTo>
                  <a:lnTo>
                    <a:pt x="219963" y="181609"/>
                  </a:lnTo>
                  <a:lnTo>
                    <a:pt x="219582" y="180340"/>
                  </a:lnTo>
                  <a:lnTo>
                    <a:pt x="219582" y="154940"/>
                  </a:lnTo>
                  <a:lnTo>
                    <a:pt x="220345" y="152400"/>
                  </a:lnTo>
                  <a:lnTo>
                    <a:pt x="221869" y="151130"/>
                  </a:lnTo>
                  <a:lnTo>
                    <a:pt x="222630" y="151130"/>
                  </a:lnTo>
                  <a:lnTo>
                    <a:pt x="223774" y="149859"/>
                  </a:lnTo>
                  <a:lnTo>
                    <a:pt x="241934" y="149859"/>
                  </a:lnTo>
                  <a:lnTo>
                    <a:pt x="241934" y="49530"/>
                  </a:lnTo>
                  <a:lnTo>
                    <a:pt x="242316" y="48260"/>
                  </a:lnTo>
                  <a:lnTo>
                    <a:pt x="243077" y="46990"/>
                  </a:lnTo>
                  <a:close/>
                </a:path>
                <a:path w="346075" h="345439">
                  <a:moveTo>
                    <a:pt x="174878" y="45719"/>
                  </a:moveTo>
                  <a:lnTo>
                    <a:pt x="102488" y="45719"/>
                  </a:lnTo>
                  <a:lnTo>
                    <a:pt x="103250" y="46990"/>
                  </a:lnTo>
                  <a:lnTo>
                    <a:pt x="174117" y="46990"/>
                  </a:lnTo>
                  <a:lnTo>
                    <a:pt x="174878" y="45719"/>
                  </a:lnTo>
                  <a:close/>
                </a:path>
                <a:path w="346075" h="345439">
                  <a:moveTo>
                    <a:pt x="244221" y="45719"/>
                  </a:moveTo>
                  <a:lnTo>
                    <a:pt x="183006" y="45719"/>
                  </a:lnTo>
                  <a:lnTo>
                    <a:pt x="183387" y="46990"/>
                  </a:lnTo>
                  <a:lnTo>
                    <a:pt x="243458" y="46990"/>
                  </a:lnTo>
                  <a:lnTo>
                    <a:pt x="244221" y="45719"/>
                  </a:lnTo>
                  <a:close/>
                </a:path>
                <a:path w="346075" h="345439">
                  <a:moveTo>
                    <a:pt x="176402" y="44450"/>
                  </a:moveTo>
                  <a:lnTo>
                    <a:pt x="100202" y="44450"/>
                  </a:lnTo>
                  <a:lnTo>
                    <a:pt x="101346" y="45719"/>
                  </a:lnTo>
                  <a:lnTo>
                    <a:pt x="175641" y="45719"/>
                  </a:lnTo>
                  <a:lnTo>
                    <a:pt x="176402" y="44450"/>
                  </a:lnTo>
                  <a:close/>
                </a:path>
                <a:path w="346075" h="345439">
                  <a:moveTo>
                    <a:pt x="245745" y="44450"/>
                  </a:moveTo>
                  <a:lnTo>
                    <a:pt x="181101" y="44450"/>
                  </a:lnTo>
                  <a:lnTo>
                    <a:pt x="181863" y="45719"/>
                  </a:lnTo>
                  <a:lnTo>
                    <a:pt x="244982" y="45719"/>
                  </a:lnTo>
                  <a:lnTo>
                    <a:pt x="245745" y="44450"/>
                  </a:lnTo>
                  <a:close/>
                </a:path>
                <a:path w="346075" h="345439">
                  <a:moveTo>
                    <a:pt x="341375" y="0"/>
                  </a:moveTo>
                  <a:lnTo>
                    <a:pt x="4952" y="0"/>
                  </a:lnTo>
                  <a:lnTo>
                    <a:pt x="3809" y="1269"/>
                  </a:lnTo>
                  <a:lnTo>
                    <a:pt x="342137" y="1269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36">
            <a:extLst>
              <a:ext uri="{FF2B5EF4-FFF2-40B4-BE49-F238E27FC236}">
                <a16:creationId xmlns:a16="http://schemas.microsoft.com/office/drawing/2014/main" id="{5B1AF748-5BB4-E61C-4911-50A19AE6BA40}"/>
              </a:ext>
            </a:extLst>
          </p:cNvPr>
          <p:cNvGrpSpPr/>
          <p:nvPr/>
        </p:nvGrpSpPr>
        <p:grpSpPr>
          <a:xfrm>
            <a:off x="7606982" y="4353243"/>
            <a:ext cx="940435" cy="940435"/>
            <a:chOff x="4442459" y="5055108"/>
            <a:chExt cx="940435" cy="940435"/>
          </a:xfrm>
        </p:grpSpPr>
        <p:sp>
          <p:nvSpPr>
            <p:cNvPr id="22" name="object 37">
              <a:extLst>
                <a:ext uri="{FF2B5EF4-FFF2-40B4-BE49-F238E27FC236}">
                  <a16:creationId xmlns:a16="http://schemas.microsoft.com/office/drawing/2014/main" id="{89B9FA04-5179-361F-A4F5-C6F6F26D658B}"/>
                </a:ext>
              </a:extLst>
            </p:cNvPr>
            <p:cNvSpPr/>
            <p:nvPr/>
          </p:nvSpPr>
          <p:spPr>
            <a:xfrm>
              <a:off x="4442459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38">
              <a:extLst>
                <a:ext uri="{FF2B5EF4-FFF2-40B4-BE49-F238E27FC236}">
                  <a16:creationId xmlns:a16="http://schemas.microsoft.com/office/drawing/2014/main" id="{B161FAFB-3E01-A05D-B8F3-73F474882CF2}"/>
                </a:ext>
              </a:extLst>
            </p:cNvPr>
            <p:cNvSpPr/>
            <p:nvPr/>
          </p:nvSpPr>
          <p:spPr>
            <a:xfrm>
              <a:off x="4773167" y="5329428"/>
              <a:ext cx="274320" cy="360045"/>
            </a:xfrm>
            <a:custGeom>
              <a:avLst/>
              <a:gdLst/>
              <a:ahLst/>
              <a:cxnLst/>
              <a:rect l="l" t="t" r="r" b="b"/>
              <a:pathLst>
                <a:path w="274320" h="360045">
                  <a:moveTo>
                    <a:pt x="175133" y="0"/>
                  </a:moveTo>
                  <a:lnTo>
                    <a:pt x="5969" y="0"/>
                  </a:lnTo>
                  <a:lnTo>
                    <a:pt x="3429" y="508"/>
                  </a:lnTo>
                  <a:lnTo>
                    <a:pt x="1524" y="1524"/>
                  </a:lnTo>
                  <a:lnTo>
                    <a:pt x="508" y="3429"/>
                  </a:lnTo>
                  <a:lnTo>
                    <a:pt x="0" y="5461"/>
                  </a:lnTo>
                  <a:lnTo>
                    <a:pt x="0" y="353682"/>
                  </a:lnTo>
                  <a:lnTo>
                    <a:pt x="508" y="356171"/>
                  </a:lnTo>
                  <a:lnTo>
                    <a:pt x="1524" y="358165"/>
                  </a:lnTo>
                  <a:lnTo>
                    <a:pt x="3429" y="359168"/>
                  </a:lnTo>
                  <a:lnTo>
                    <a:pt x="5969" y="359664"/>
                  </a:lnTo>
                  <a:lnTo>
                    <a:pt x="268351" y="359664"/>
                  </a:lnTo>
                  <a:lnTo>
                    <a:pt x="270891" y="359168"/>
                  </a:lnTo>
                  <a:lnTo>
                    <a:pt x="272796" y="358165"/>
                  </a:lnTo>
                  <a:lnTo>
                    <a:pt x="273812" y="356171"/>
                  </a:lnTo>
                  <a:lnTo>
                    <a:pt x="274320" y="353682"/>
                  </a:lnTo>
                  <a:lnTo>
                    <a:pt x="274320" y="299885"/>
                  </a:lnTo>
                  <a:lnTo>
                    <a:pt x="53594" y="299885"/>
                  </a:lnTo>
                  <a:lnTo>
                    <a:pt x="51562" y="299389"/>
                  </a:lnTo>
                  <a:lnTo>
                    <a:pt x="49149" y="298386"/>
                  </a:lnTo>
                  <a:lnTo>
                    <a:pt x="47625" y="296392"/>
                  </a:lnTo>
                  <a:lnTo>
                    <a:pt x="47117" y="293903"/>
                  </a:lnTo>
                  <a:lnTo>
                    <a:pt x="47117" y="120015"/>
                  </a:lnTo>
                  <a:lnTo>
                    <a:pt x="47625" y="117602"/>
                  </a:lnTo>
                  <a:lnTo>
                    <a:pt x="49149" y="115570"/>
                  </a:lnTo>
                  <a:lnTo>
                    <a:pt x="51562" y="114554"/>
                  </a:lnTo>
                  <a:lnTo>
                    <a:pt x="53594" y="114046"/>
                  </a:lnTo>
                  <a:lnTo>
                    <a:pt x="274320" y="114046"/>
                  </a:lnTo>
                  <a:lnTo>
                    <a:pt x="274320" y="101600"/>
                  </a:lnTo>
                  <a:lnTo>
                    <a:pt x="172593" y="101600"/>
                  </a:lnTo>
                  <a:lnTo>
                    <a:pt x="172593" y="5461"/>
                  </a:lnTo>
                  <a:lnTo>
                    <a:pt x="180959" y="5461"/>
                  </a:lnTo>
                  <a:lnTo>
                    <a:pt x="177037" y="1524"/>
                  </a:lnTo>
                  <a:lnTo>
                    <a:pt x="175133" y="0"/>
                  </a:lnTo>
                  <a:close/>
                </a:path>
                <a:path w="274320" h="360045">
                  <a:moveTo>
                    <a:pt x="118618" y="195834"/>
                  </a:moveTo>
                  <a:lnTo>
                    <a:pt x="59562" y="249047"/>
                  </a:lnTo>
                  <a:lnTo>
                    <a:pt x="59562" y="287426"/>
                  </a:lnTo>
                  <a:lnTo>
                    <a:pt x="223266" y="287426"/>
                  </a:lnTo>
                  <a:lnTo>
                    <a:pt x="225679" y="287934"/>
                  </a:lnTo>
                  <a:lnTo>
                    <a:pt x="227203" y="289420"/>
                  </a:lnTo>
                  <a:lnTo>
                    <a:pt x="228727" y="291414"/>
                  </a:lnTo>
                  <a:lnTo>
                    <a:pt x="229235" y="293903"/>
                  </a:lnTo>
                  <a:lnTo>
                    <a:pt x="228727" y="296392"/>
                  </a:lnTo>
                  <a:lnTo>
                    <a:pt x="227203" y="298386"/>
                  </a:lnTo>
                  <a:lnTo>
                    <a:pt x="225679" y="299389"/>
                  </a:lnTo>
                  <a:lnTo>
                    <a:pt x="223266" y="299885"/>
                  </a:lnTo>
                  <a:lnTo>
                    <a:pt x="274320" y="299885"/>
                  </a:lnTo>
                  <a:lnTo>
                    <a:pt x="274320" y="223647"/>
                  </a:lnTo>
                  <a:lnTo>
                    <a:pt x="161671" y="223647"/>
                  </a:lnTo>
                  <a:lnTo>
                    <a:pt x="159766" y="223139"/>
                  </a:lnTo>
                  <a:lnTo>
                    <a:pt x="118618" y="195834"/>
                  </a:lnTo>
                  <a:close/>
                </a:path>
                <a:path w="274320" h="360045">
                  <a:moveTo>
                    <a:pt x="274320" y="114046"/>
                  </a:moveTo>
                  <a:lnTo>
                    <a:pt x="53594" y="114046"/>
                  </a:lnTo>
                  <a:lnTo>
                    <a:pt x="56007" y="114554"/>
                  </a:lnTo>
                  <a:lnTo>
                    <a:pt x="58039" y="115570"/>
                  </a:lnTo>
                  <a:lnTo>
                    <a:pt x="59055" y="117602"/>
                  </a:lnTo>
                  <a:lnTo>
                    <a:pt x="59562" y="120015"/>
                  </a:lnTo>
                  <a:lnTo>
                    <a:pt x="59562" y="232664"/>
                  </a:lnTo>
                  <a:lnTo>
                    <a:pt x="115570" y="181864"/>
                  </a:lnTo>
                  <a:lnTo>
                    <a:pt x="117602" y="181356"/>
                  </a:lnTo>
                  <a:lnTo>
                    <a:pt x="188930" y="181356"/>
                  </a:lnTo>
                  <a:lnTo>
                    <a:pt x="216281" y="152400"/>
                  </a:lnTo>
                  <a:lnTo>
                    <a:pt x="218312" y="150876"/>
                  </a:lnTo>
                  <a:lnTo>
                    <a:pt x="220726" y="149987"/>
                  </a:lnTo>
                  <a:lnTo>
                    <a:pt x="274320" y="149987"/>
                  </a:lnTo>
                  <a:lnTo>
                    <a:pt x="274320" y="114046"/>
                  </a:lnTo>
                  <a:close/>
                </a:path>
                <a:path w="274320" h="360045">
                  <a:moveTo>
                    <a:pt x="274320" y="149987"/>
                  </a:moveTo>
                  <a:lnTo>
                    <a:pt x="221742" y="149987"/>
                  </a:lnTo>
                  <a:lnTo>
                    <a:pt x="222758" y="150495"/>
                  </a:lnTo>
                  <a:lnTo>
                    <a:pt x="223774" y="150876"/>
                  </a:lnTo>
                  <a:lnTo>
                    <a:pt x="224662" y="151384"/>
                  </a:lnTo>
                  <a:lnTo>
                    <a:pt x="226187" y="153416"/>
                  </a:lnTo>
                  <a:lnTo>
                    <a:pt x="226695" y="155956"/>
                  </a:lnTo>
                  <a:lnTo>
                    <a:pt x="226187" y="157861"/>
                  </a:lnTo>
                  <a:lnTo>
                    <a:pt x="225171" y="159893"/>
                  </a:lnTo>
                  <a:lnTo>
                    <a:pt x="167640" y="222123"/>
                  </a:lnTo>
                  <a:lnTo>
                    <a:pt x="165735" y="223139"/>
                  </a:lnTo>
                  <a:lnTo>
                    <a:pt x="163703" y="223647"/>
                  </a:lnTo>
                  <a:lnTo>
                    <a:pt x="274320" y="223647"/>
                  </a:lnTo>
                  <a:lnTo>
                    <a:pt x="274320" y="149987"/>
                  </a:lnTo>
                  <a:close/>
                </a:path>
                <a:path w="274320" h="360045">
                  <a:moveTo>
                    <a:pt x="188930" y="181356"/>
                  </a:moveTo>
                  <a:lnTo>
                    <a:pt x="117602" y="181356"/>
                  </a:lnTo>
                  <a:lnTo>
                    <a:pt x="119507" y="181864"/>
                  </a:lnTo>
                  <a:lnTo>
                    <a:pt x="121031" y="182880"/>
                  </a:lnTo>
                  <a:lnTo>
                    <a:pt x="162179" y="209677"/>
                  </a:lnTo>
                  <a:lnTo>
                    <a:pt x="188930" y="181356"/>
                  </a:lnTo>
                  <a:close/>
                </a:path>
                <a:path w="274320" h="360045">
                  <a:moveTo>
                    <a:pt x="180959" y="5461"/>
                  </a:moveTo>
                  <a:lnTo>
                    <a:pt x="172593" y="5461"/>
                  </a:lnTo>
                  <a:lnTo>
                    <a:pt x="268351" y="101600"/>
                  </a:lnTo>
                  <a:lnTo>
                    <a:pt x="274320" y="101600"/>
                  </a:lnTo>
                  <a:lnTo>
                    <a:pt x="273812" y="99568"/>
                  </a:lnTo>
                  <a:lnTo>
                    <a:pt x="272796" y="97663"/>
                  </a:lnTo>
                  <a:lnTo>
                    <a:pt x="180959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32">
            <a:extLst>
              <a:ext uri="{FF2B5EF4-FFF2-40B4-BE49-F238E27FC236}">
                <a16:creationId xmlns:a16="http://schemas.microsoft.com/office/drawing/2014/main" id="{63B40389-6BEF-4882-C594-526233F661B6}"/>
              </a:ext>
            </a:extLst>
          </p:cNvPr>
          <p:cNvGrpSpPr/>
          <p:nvPr/>
        </p:nvGrpSpPr>
        <p:grpSpPr>
          <a:xfrm>
            <a:off x="9646919" y="3440113"/>
            <a:ext cx="940435" cy="940435"/>
            <a:chOff x="3669791" y="3235451"/>
            <a:chExt cx="940435" cy="940435"/>
          </a:xfrm>
        </p:grpSpPr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B6EB95E6-725F-8719-3B41-589B7F3A4E7A}"/>
                </a:ext>
              </a:extLst>
            </p:cNvPr>
            <p:cNvSpPr/>
            <p:nvPr/>
          </p:nvSpPr>
          <p:spPr>
            <a:xfrm>
              <a:off x="3669791" y="3235451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4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4" y="940308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34">
              <a:extLst>
                <a:ext uri="{FF2B5EF4-FFF2-40B4-BE49-F238E27FC236}">
                  <a16:creationId xmlns:a16="http://schemas.microsoft.com/office/drawing/2014/main" id="{1FBA3468-8E0A-71DF-0B39-970C863B80D6}"/>
                </a:ext>
              </a:extLst>
            </p:cNvPr>
            <p:cNvSpPr/>
            <p:nvPr/>
          </p:nvSpPr>
          <p:spPr>
            <a:xfrm>
              <a:off x="3979164" y="351281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327660" y="20713"/>
                  </a:moveTo>
                  <a:lnTo>
                    <a:pt x="326898" y="16129"/>
                  </a:lnTo>
                  <a:lnTo>
                    <a:pt x="325755" y="14224"/>
                  </a:lnTo>
                  <a:lnTo>
                    <a:pt x="324993" y="11938"/>
                  </a:lnTo>
                  <a:lnTo>
                    <a:pt x="322707" y="8382"/>
                  </a:lnTo>
                  <a:lnTo>
                    <a:pt x="321183" y="6477"/>
                  </a:lnTo>
                  <a:lnTo>
                    <a:pt x="319278" y="5334"/>
                  </a:lnTo>
                  <a:lnTo>
                    <a:pt x="317754" y="3810"/>
                  </a:lnTo>
                  <a:lnTo>
                    <a:pt x="313563" y="1905"/>
                  </a:lnTo>
                  <a:lnTo>
                    <a:pt x="311658" y="762"/>
                  </a:lnTo>
                  <a:lnTo>
                    <a:pt x="306959" y="0"/>
                  </a:lnTo>
                  <a:lnTo>
                    <a:pt x="302387" y="0"/>
                  </a:lnTo>
                  <a:lnTo>
                    <a:pt x="297815" y="762"/>
                  </a:lnTo>
                  <a:lnTo>
                    <a:pt x="295529" y="1905"/>
                  </a:lnTo>
                  <a:lnTo>
                    <a:pt x="294005" y="3048"/>
                  </a:lnTo>
                  <a:lnTo>
                    <a:pt x="291719" y="3810"/>
                  </a:lnTo>
                  <a:lnTo>
                    <a:pt x="290195" y="5334"/>
                  </a:lnTo>
                  <a:lnTo>
                    <a:pt x="288671" y="6477"/>
                  </a:lnTo>
                  <a:lnTo>
                    <a:pt x="284480" y="11938"/>
                  </a:lnTo>
                  <a:lnTo>
                    <a:pt x="282194" y="18415"/>
                  </a:lnTo>
                  <a:lnTo>
                    <a:pt x="281813" y="20713"/>
                  </a:lnTo>
                  <a:lnTo>
                    <a:pt x="281813" y="22999"/>
                  </a:lnTo>
                  <a:lnTo>
                    <a:pt x="282194" y="26797"/>
                  </a:lnTo>
                  <a:lnTo>
                    <a:pt x="282956" y="30238"/>
                  </a:lnTo>
                  <a:lnTo>
                    <a:pt x="284099" y="33413"/>
                  </a:lnTo>
                  <a:lnTo>
                    <a:pt x="286004" y="36830"/>
                  </a:lnTo>
                  <a:lnTo>
                    <a:pt x="228219" y="106172"/>
                  </a:lnTo>
                  <a:lnTo>
                    <a:pt x="223266" y="104648"/>
                  </a:lnTo>
                  <a:lnTo>
                    <a:pt x="218313" y="103886"/>
                  </a:lnTo>
                  <a:lnTo>
                    <a:pt x="212598" y="104648"/>
                  </a:lnTo>
                  <a:lnTo>
                    <a:pt x="210312" y="105410"/>
                  </a:lnTo>
                  <a:lnTo>
                    <a:pt x="205613" y="107696"/>
                  </a:lnTo>
                  <a:lnTo>
                    <a:pt x="203327" y="109601"/>
                  </a:lnTo>
                  <a:lnTo>
                    <a:pt x="199898" y="113030"/>
                  </a:lnTo>
                  <a:lnTo>
                    <a:pt x="154813" y="94996"/>
                  </a:lnTo>
                  <a:lnTo>
                    <a:pt x="154813" y="90043"/>
                  </a:lnTo>
                  <a:lnTo>
                    <a:pt x="154051" y="85471"/>
                  </a:lnTo>
                  <a:lnTo>
                    <a:pt x="152527" y="81661"/>
                  </a:lnTo>
                  <a:lnTo>
                    <a:pt x="151384" y="79387"/>
                  </a:lnTo>
                  <a:lnTo>
                    <a:pt x="148336" y="76327"/>
                  </a:lnTo>
                  <a:lnTo>
                    <a:pt x="146812" y="74422"/>
                  </a:lnTo>
                  <a:lnTo>
                    <a:pt x="143002" y="72009"/>
                  </a:lnTo>
                  <a:lnTo>
                    <a:pt x="138684" y="70485"/>
                  </a:lnTo>
                  <a:lnTo>
                    <a:pt x="136779" y="69342"/>
                  </a:lnTo>
                  <a:lnTo>
                    <a:pt x="134493" y="69342"/>
                  </a:lnTo>
                  <a:lnTo>
                    <a:pt x="131826" y="68961"/>
                  </a:lnTo>
                  <a:lnTo>
                    <a:pt x="129921" y="69342"/>
                  </a:lnTo>
                  <a:lnTo>
                    <a:pt x="127254" y="69342"/>
                  </a:lnTo>
                  <a:lnTo>
                    <a:pt x="125349" y="70485"/>
                  </a:lnTo>
                  <a:lnTo>
                    <a:pt x="121158" y="72009"/>
                  </a:lnTo>
                  <a:lnTo>
                    <a:pt x="108966" y="90043"/>
                  </a:lnTo>
                  <a:lnTo>
                    <a:pt x="108966" y="91948"/>
                  </a:lnTo>
                  <a:lnTo>
                    <a:pt x="109728" y="97409"/>
                  </a:lnTo>
                  <a:lnTo>
                    <a:pt x="111252" y="102362"/>
                  </a:lnTo>
                  <a:lnTo>
                    <a:pt x="58801" y="148336"/>
                  </a:lnTo>
                  <a:lnTo>
                    <a:pt x="55753" y="146431"/>
                  </a:lnTo>
                  <a:lnTo>
                    <a:pt x="52705" y="145288"/>
                  </a:lnTo>
                  <a:lnTo>
                    <a:pt x="48895" y="144526"/>
                  </a:lnTo>
                  <a:lnTo>
                    <a:pt x="43180" y="144526"/>
                  </a:lnTo>
                  <a:lnTo>
                    <a:pt x="38862" y="145288"/>
                  </a:lnTo>
                  <a:lnTo>
                    <a:pt x="34671" y="146812"/>
                  </a:lnTo>
                  <a:lnTo>
                    <a:pt x="32766" y="147955"/>
                  </a:lnTo>
                  <a:lnTo>
                    <a:pt x="30861" y="149860"/>
                  </a:lnTo>
                  <a:lnTo>
                    <a:pt x="29337" y="151003"/>
                  </a:lnTo>
                  <a:lnTo>
                    <a:pt x="26289" y="154051"/>
                  </a:lnTo>
                  <a:lnTo>
                    <a:pt x="24384" y="158242"/>
                  </a:lnTo>
                  <a:lnTo>
                    <a:pt x="23622" y="160655"/>
                  </a:lnTo>
                  <a:lnTo>
                    <a:pt x="22860" y="164846"/>
                  </a:lnTo>
                  <a:lnTo>
                    <a:pt x="22860" y="169799"/>
                  </a:lnTo>
                  <a:lnTo>
                    <a:pt x="23622" y="174371"/>
                  </a:lnTo>
                  <a:lnTo>
                    <a:pt x="25146" y="178562"/>
                  </a:lnTo>
                  <a:lnTo>
                    <a:pt x="29337" y="184023"/>
                  </a:lnTo>
                  <a:lnTo>
                    <a:pt x="34671" y="187452"/>
                  </a:lnTo>
                  <a:lnTo>
                    <a:pt x="36576" y="188976"/>
                  </a:lnTo>
                  <a:lnTo>
                    <a:pt x="38862" y="189357"/>
                  </a:lnTo>
                  <a:lnTo>
                    <a:pt x="40894" y="190119"/>
                  </a:lnTo>
                  <a:lnTo>
                    <a:pt x="43180" y="190500"/>
                  </a:lnTo>
                  <a:lnTo>
                    <a:pt x="45847" y="190500"/>
                  </a:lnTo>
                  <a:lnTo>
                    <a:pt x="47752" y="190500"/>
                  </a:lnTo>
                  <a:lnTo>
                    <a:pt x="50419" y="190119"/>
                  </a:lnTo>
                  <a:lnTo>
                    <a:pt x="52324" y="189357"/>
                  </a:lnTo>
                  <a:lnTo>
                    <a:pt x="54610" y="188976"/>
                  </a:lnTo>
                  <a:lnTo>
                    <a:pt x="59944" y="185166"/>
                  </a:lnTo>
                  <a:lnTo>
                    <a:pt x="68707" y="169799"/>
                  </a:lnTo>
                  <a:lnTo>
                    <a:pt x="68707" y="167513"/>
                  </a:lnTo>
                  <a:lnTo>
                    <a:pt x="67945" y="162179"/>
                  </a:lnTo>
                  <a:lnTo>
                    <a:pt x="66421" y="157099"/>
                  </a:lnTo>
                  <a:lnTo>
                    <a:pt x="118872" y="111125"/>
                  </a:lnTo>
                  <a:lnTo>
                    <a:pt x="121920" y="113030"/>
                  </a:lnTo>
                  <a:lnTo>
                    <a:pt x="128778" y="115316"/>
                  </a:lnTo>
                  <a:lnTo>
                    <a:pt x="131826" y="115697"/>
                  </a:lnTo>
                  <a:lnTo>
                    <a:pt x="134874" y="115316"/>
                  </a:lnTo>
                  <a:lnTo>
                    <a:pt x="140208" y="113792"/>
                  </a:lnTo>
                  <a:lnTo>
                    <a:pt x="147193" y="109982"/>
                  </a:lnTo>
                  <a:lnTo>
                    <a:pt x="150241" y="106172"/>
                  </a:lnTo>
                  <a:lnTo>
                    <a:pt x="195326" y="124206"/>
                  </a:lnTo>
                  <a:lnTo>
                    <a:pt x="195326" y="129159"/>
                  </a:lnTo>
                  <a:lnTo>
                    <a:pt x="195707" y="131445"/>
                  </a:lnTo>
                  <a:lnTo>
                    <a:pt x="209550" y="147955"/>
                  </a:lnTo>
                  <a:lnTo>
                    <a:pt x="211455" y="149098"/>
                  </a:lnTo>
                  <a:lnTo>
                    <a:pt x="213741" y="149860"/>
                  </a:lnTo>
                  <a:lnTo>
                    <a:pt x="216027" y="149860"/>
                  </a:lnTo>
                  <a:lnTo>
                    <a:pt x="218313" y="150241"/>
                  </a:lnTo>
                  <a:lnTo>
                    <a:pt x="220980" y="149860"/>
                  </a:lnTo>
                  <a:lnTo>
                    <a:pt x="222885" y="149860"/>
                  </a:lnTo>
                  <a:lnTo>
                    <a:pt x="225171" y="149098"/>
                  </a:lnTo>
                  <a:lnTo>
                    <a:pt x="229362" y="147193"/>
                  </a:lnTo>
                  <a:lnTo>
                    <a:pt x="233172" y="144907"/>
                  </a:lnTo>
                  <a:lnTo>
                    <a:pt x="234315" y="143383"/>
                  </a:lnTo>
                  <a:lnTo>
                    <a:pt x="236220" y="141478"/>
                  </a:lnTo>
                  <a:lnTo>
                    <a:pt x="238506" y="138049"/>
                  </a:lnTo>
                  <a:lnTo>
                    <a:pt x="239649" y="135636"/>
                  </a:lnTo>
                  <a:lnTo>
                    <a:pt x="240030" y="133731"/>
                  </a:lnTo>
                  <a:lnTo>
                    <a:pt x="240792" y="131445"/>
                  </a:lnTo>
                  <a:lnTo>
                    <a:pt x="241173" y="129159"/>
                  </a:lnTo>
                  <a:lnTo>
                    <a:pt x="240792" y="123444"/>
                  </a:lnTo>
                  <a:lnTo>
                    <a:pt x="240030" y="119634"/>
                  </a:lnTo>
                  <a:lnTo>
                    <a:pt x="238887" y="116586"/>
                  </a:lnTo>
                  <a:lnTo>
                    <a:pt x="236982" y="113411"/>
                  </a:lnTo>
                  <a:lnTo>
                    <a:pt x="294767" y="43700"/>
                  </a:lnTo>
                  <a:lnTo>
                    <a:pt x="297053" y="44831"/>
                  </a:lnTo>
                  <a:lnTo>
                    <a:pt x="299720" y="45593"/>
                  </a:lnTo>
                  <a:lnTo>
                    <a:pt x="302006" y="45986"/>
                  </a:lnTo>
                  <a:lnTo>
                    <a:pt x="306959" y="45986"/>
                  </a:lnTo>
                  <a:lnTo>
                    <a:pt x="311658" y="45224"/>
                  </a:lnTo>
                  <a:lnTo>
                    <a:pt x="315849" y="43307"/>
                  </a:lnTo>
                  <a:lnTo>
                    <a:pt x="317754" y="42176"/>
                  </a:lnTo>
                  <a:lnTo>
                    <a:pt x="319278" y="40640"/>
                  </a:lnTo>
                  <a:lnTo>
                    <a:pt x="321183" y="39497"/>
                  </a:lnTo>
                  <a:lnTo>
                    <a:pt x="322707" y="37973"/>
                  </a:lnTo>
                  <a:lnTo>
                    <a:pt x="324993" y="34175"/>
                  </a:lnTo>
                  <a:lnTo>
                    <a:pt x="325755" y="32258"/>
                  </a:lnTo>
                  <a:lnTo>
                    <a:pt x="326898" y="30238"/>
                  </a:lnTo>
                  <a:lnTo>
                    <a:pt x="327660" y="25654"/>
                  </a:lnTo>
                  <a:lnTo>
                    <a:pt x="327660" y="20713"/>
                  </a:lnTo>
                  <a:close/>
                </a:path>
                <a:path w="347979" h="347979">
                  <a:moveTo>
                    <a:pt x="347472" y="341630"/>
                  </a:moveTo>
                  <a:lnTo>
                    <a:pt x="346329" y="338582"/>
                  </a:lnTo>
                  <a:lnTo>
                    <a:pt x="343662" y="336296"/>
                  </a:lnTo>
                  <a:lnTo>
                    <a:pt x="342519" y="335915"/>
                  </a:lnTo>
                  <a:lnTo>
                    <a:pt x="341757" y="335915"/>
                  </a:lnTo>
                  <a:lnTo>
                    <a:pt x="323977" y="335915"/>
                  </a:lnTo>
                  <a:lnTo>
                    <a:pt x="323977" y="118999"/>
                  </a:lnTo>
                  <a:lnTo>
                    <a:pt x="323215" y="116967"/>
                  </a:lnTo>
                  <a:lnTo>
                    <a:pt x="321310" y="115443"/>
                  </a:lnTo>
                  <a:lnTo>
                    <a:pt x="319405" y="114681"/>
                  </a:lnTo>
                  <a:lnTo>
                    <a:pt x="272161" y="114300"/>
                  </a:lnTo>
                  <a:lnTo>
                    <a:pt x="268732" y="115443"/>
                  </a:lnTo>
                  <a:lnTo>
                    <a:pt x="267081" y="116967"/>
                  </a:lnTo>
                  <a:lnTo>
                    <a:pt x="266319" y="118999"/>
                  </a:lnTo>
                  <a:lnTo>
                    <a:pt x="266319" y="335915"/>
                  </a:lnTo>
                  <a:lnTo>
                    <a:pt x="242951" y="335915"/>
                  </a:lnTo>
                  <a:lnTo>
                    <a:pt x="242951" y="223901"/>
                  </a:lnTo>
                  <a:lnTo>
                    <a:pt x="242189" y="221615"/>
                  </a:lnTo>
                  <a:lnTo>
                    <a:pt x="241427" y="220853"/>
                  </a:lnTo>
                  <a:lnTo>
                    <a:pt x="238633" y="219329"/>
                  </a:lnTo>
                  <a:lnTo>
                    <a:pt x="189865" y="219329"/>
                  </a:lnTo>
                  <a:lnTo>
                    <a:pt x="188722" y="219710"/>
                  </a:lnTo>
                  <a:lnTo>
                    <a:pt x="187960" y="220472"/>
                  </a:lnTo>
                  <a:lnTo>
                    <a:pt x="186055" y="221615"/>
                  </a:lnTo>
                  <a:lnTo>
                    <a:pt x="185293" y="223901"/>
                  </a:lnTo>
                  <a:lnTo>
                    <a:pt x="185293" y="335915"/>
                  </a:lnTo>
                  <a:lnTo>
                    <a:pt x="161798" y="335915"/>
                  </a:lnTo>
                  <a:lnTo>
                    <a:pt x="161798" y="189103"/>
                  </a:lnTo>
                  <a:lnTo>
                    <a:pt x="161036" y="186690"/>
                  </a:lnTo>
                  <a:lnTo>
                    <a:pt x="159512" y="185166"/>
                  </a:lnTo>
                  <a:lnTo>
                    <a:pt x="157226" y="184404"/>
                  </a:lnTo>
                  <a:lnTo>
                    <a:pt x="108839" y="184404"/>
                  </a:lnTo>
                  <a:lnTo>
                    <a:pt x="106426" y="185166"/>
                  </a:lnTo>
                  <a:lnTo>
                    <a:pt x="104902" y="186690"/>
                  </a:lnTo>
                  <a:lnTo>
                    <a:pt x="104140" y="189103"/>
                  </a:lnTo>
                  <a:lnTo>
                    <a:pt x="104140" y="335915"/>
                  </a:lnTo>
                  <a:lnTo>
                    <a:pt x="81153" y="335915"/>
                  </a:lnTo>
                  <a:lnTo>
                    <a:pt x="81153" y="270764"/>
                  </a:lnTo>
                  <a:lnTo>
                    <a:pt x="80391" y="268859"/>
                  </a:lnTo>
                  <a:lnTo>
                    <a:pt x="78740" y="266954"/>
                  </a:lnTo>
                  <a:lnTo>
                    <a:pt x="75311" y="265684"/>
                  </a:lnTo>
                  <a:lnTo>
                    <a:pt x="29210" y="265684"/>
                  </a:lnTo>
                  <a:lnTo>
                    <a:pt x="28067" y="266192"/>
                  </a:lnTo>
                  <a:lnTo>
                    <a:pt x="26543" y="266192"/>
                  </a:lnTo>
                  <a:lnTo>
                    <a:pt x="25019" y="267716"/>
                  </a:lnTo>
                  <a:lnTo>
                    <a:pt x="23876" y="269621"/>
                  </a:lnTo>
                  <a:lnTo>
                    <a:pt x="23495" y="270764"/>
                  </a:lnTo>
                  <a:lnTo>
                    <a:pt x="23495" y="335915"/>
                  </a:lnTo>
                  <a:lnTo>
                    <a:pt x="4953" y="335915"/>
                  </a:lnTo>
                  <a:lnTo>
                    <a:pt x="3429" y="336296"/>
                  </a:lnTo>
                  <a:lnTo>
                    <a:pt x="1143" y="338582"/>
                  </a:lnTo>
                  <a:lnTo>
                    <a:pt x="0" y="341630"/>
                  </a:lnTo>
                  <a:lnTo>
                    <a:pt x="1143" y="345186"/>
                  </a:lnTo>
                  <a:lnTo>
                    <a:pt x="2667" y="346710"/>
                  </a:lnTo>
                  <a:lnTo>
                    <a:pt x="4953" y="347472"/>
                  </a:lnTo>
                  <a:lnTo>
                    <a:pt x="342519" y="347472"/>
                  </a:lnTo>
                  <a:lnTo>
                    <a:pt x="344424" y="346710"/>
                  </a:lnTo>
                  <a:lnTo>
                    <a:pt x="346329" y="345186"/>
                  </a:lnTo>
                  <a:lnTo>
                    <a:pt x="347472" y="341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4">
            <a:extLst>
              <a:ext uri="{FF2B5EF4-FFF2-40B4-BE49-F238E27FC236}">
                <a16:creationId xmlns:a16="http://schemas.microsoft.com/office/drawing/2014/main" id="{D0562323-FA83-F256-2C52-497B0EE2DC1D}"/>
              </a:ext>
            </a:extLst>
          </p:cNvPr>
          <p:cNvSpPr txBox="1">
            <a:spLocks/>
          </p:cNvSpPr>
          <p:nvPr/>
        </p:nvSpPr>
        <p:spPr>
          <a:xfrm>
            <a:off x="4884420" y="152400"/>
            <a:ext cx="3782313" cy="6585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IN" spc="55"/>
              <a:t>Agenda</a:t>
            </a:r>
            <a:endParaRPr lang="en-IN" spc="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3FEC-ABC5-3396-7159-CEC4310C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pc="50" dirty="0"/>
              <a:t>Company</a:t>
            </a:r>
            <a:r>
              <a:rPr lang="en-IN" spc="-15" dirty="0"/>
              <a:t> </a:t>
            </a:r>
            <a:r>
              <a:rPr lang="en-IN" spc="-35" dirty="0"/>
              <a:t>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9867E8-371C-25B7-259A-14F59EC4C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7800"/>
            <a:ext cx="940472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2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5257800" cy="67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spc="-20" dirty="0"/>
              <a:t>Data</a:t>
            </a:r>
            <a:r>
              <a:rPr spc="-175" dirty="0"/>
              <a:t> </a:t>
            </a:r>
            <a:r>
              <a:rPr spc="-20" dirty="0"/>
              <a:t>Model</a:t>
            </a:r>
          </a:p>
          <a:p>
            <a:pPr marL="635" algn="ctr">
              <a:lnSpc>
                <a:spcPts val="1835"/>
              </a:lnSpc>
            </a:pPr>
            <a:r>
              <a:rPr sz="1600" spc="-120" dirty="0"/>
              <a:t>Star</a:t>
            </a:r>
            <a:r>
              <a:rPr sz="1600" dirty="0"/>
              <a:t> </a:t>
            </a:r>
            <a:r>
              <a:rPr sz="1600" spc="-10" dirty="0"/>
              <a:t>Schema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3CB496-32FA-2005-8FAA-0F7C4E59F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95400"/>
            <a:ext cx="7407301" cy="4302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119583"/>
            <a:ext cx="731520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65"/>
              </a:lnSpc>
              <a:spcBef>
                <a:spcPts val="100"/>
              </a:spcBef>
            </a:pPr>
            <a:r>
              <a:rPr sz="2400" dirty="0"/>
              <a:t>Key</a:t>
            </a:r>
            <a:r>
              <a:rPr sz="2400" spc="-125" dirty="0"/>
              <a:t> </a:t>
            </a:r>
            <a:r>
              <a:rPr sz="2400" spc="-40" dirty="0"/>
              <a:t>Performance</a:t>
            </a:r>
            <a:r>
              <a:rPr sz="2400" spc="-120" dirty="0"/>
              <a:t> </a:t>
            </a:r>
            <a:r>
              <a:rPr sz="2400" spc="-75" dirty="0"/>
              <a:t>Indicators</a:t>
            </a:r>
            <a:endParaRPr sz="2400" dirty="0"/>
          </a:p>
          <a:p>
            <a:pPr algn="ctr">
              <a:lnSpc>
                <a:spcPts val="2285"/>
              </a:lnSpc>
            </a:pPr>
            <a:r>
              <a:rPr sz="2000" spc="-95" dirty="0"/>
              <a:t>Hospitality</a:t>
            </a:r>
            <a:r>
              <a:rPr sz="2000" spc="20" dirty="0"/>
              <a:t> </a:t>
            </a:r>
            <a:r>
              <a:rPr sz="2000" spc="-10" dirty="0"/>
              <a:t>Domain</a:t>
            </a:r>
            <a:endParaRPr sz="2000" dirty="0"/>
          </a:p>
        </p:txBody>
      </p:sp>
      <p:sp>
        <p:nvSpPr>
          <p:cNvPr id="6" name="object 6"/>
          <p:cNvSpPr txBox="1"/>
          <p:nvPr/>
        </p:nvSpPr>
        <p:spPr>
          <a:xfrm>
            <a:off x="1604899" y="1337284"/>
            <a:ext cx="2433320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2900"/>
              </a:lnSpc>
              <a:spcBef>
                <a:spcPts val="95"/>
              </a:spcBef>
            </a:pPr>
            <a:r>
              <a:rPr sz="1400" spc="-25" dirty="0">
                <a:latin typeface="Segoe UI"/>
                <a:cs typeface="Segoe UI"/>
              </a:rPr>
              <a:t>RevPAR</a:t>
            </a:r>
            <a:r>
              <a:rPr sz="1400" spc="-7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(Revenue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Per</a:t>
            </a:r>
            <a:r>
              <a:rPr sz="1400" spc="-7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Available </a:t>
            </a:r>
            <a:r>
              <a:rPr sz="1400" dirty="0">
                <a:latin typeface="Segoe UI"/>
                <a:cs typeface="Segoe UI"/>
              </a:rPr>
              <a:t>Room)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=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Total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/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Total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Available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Sell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2795" y="1238224"/>
            <a:ext cx="2306320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47625" algn="ctr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latin typeface="Segoe UI"/>
                <a:cs typeface="Segoe UI"/>
              </a:rPr>
              <a:t>ADR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(Average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Daily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Rate)</a:t>
            </a:r>
            <a:r>
              <a:rPr sz="1400" spc="-50" dirty="0">
                <a:latin typeface="Segoe UI"/>
                <a:cs typeface="Segoe UI"/>
              </a:rPr>
              <a:t> = </a:t>
            </a:r>
            <a:r>
              <a:rPr sz="1400" spc="-20" dirty="0">
                <a:latin typeface="Segoe UI"/>
                <a:cs typeface="Segoe UI"/>
              </a:rPr>
              <a:t>Total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7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Revenue/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No.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of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Sold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6200" y="1238224"/>
            <a:ext cx="2275205" cy="748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%=</a:t>
            </a:r>
            <a:endParaRPr sz="1400" dirty="0">
              <a:latin typeface="Segoe UI"/>
              <a:cs typeface="Segoe UI"/>
            </a:endParaRPr>
          </a:p>
          <a:p>
            <a:pPr marL="12700" marR="5080">
              <a:lnSpc>
                <a:spcPct val="112900"/>
              </a:lnSpc>
            </a:pPr>
            <a:r>
              <a:rPr sz="1400" spc="-20" dirty="0">
                <a:latin typeface="Segoe UI"/>
                <a:cs typeface="Segoe UI"/>
              </a:rPr>
              <a:t>Total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7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Occupied/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Total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Available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0883" y="5226100"/>
            <a:ext cx="1697989" cy="478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latin typeface="Segoe UI"/>
                <a:cs typeface="Segoe UI"/>
              </a:rPr>
              <a:t>DSRN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Daily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Sellable </a:t>
            </a:r>
            <a:r>
              <a:rPr sz="1400" dirty="0">
                <a:latin typeface="Segoe UI"/>
                <a:cs typeface="Segoe UI"/>
              </a:rPr>
              <a:t>Room</a:t>
            </a:r>
            <a:r>
              <a:rPr sz="1400" spc="-8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Nights</a:t>
            </a:r>
            <a:endParaRPr sz="140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4814" y="5449620"/>
            <a:ext cx="2175510" cy="478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7405" marR="5080" indent="-815340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latin typeface="Segoe UI"/>
                <a:cs typeface="Segoe UI"/>
              </a:rPr>
              <a:t>DURN-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Daily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Utilized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Room </a:t>
            </a:r>
            <a:r>
              <a:rPr sz="1400" spc="-10" dirty="0">
                <a:latin typeface="Segoe UI"/>
                <a:cs typeface="Segoe UI"/>
              </a:rPr>
              <a:t>Nights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89746" y="5324678"/>
            <a:ext cx="212217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Segoe UI"/>
                <a:cs typeface="Segoe UI"/>
              </a:rPr>
              <a:t>Realization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=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DURN/DBRN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52846" y="5434076"/>
            <a:ext cx="2411095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latin typeface="Segoe UI"/>
                <a:cs typeface="Segoe UI"/>
              </a:rPr>
              <a:t>DBRN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(Daily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Booked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Room </a:t>
            </a:r>
            <a:r>
              <a:rPr sz="1400" dirty="0">
                <a:latin typeface="Segoe UI"/>
                <a:cs typeface="Segoe UI"/>
              </a:rPr>
              <a:t>Nights)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=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DURN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+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No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Show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50" dirty="0">
                <a:latin typeface="Segoe UI"/>
                <a:cs typeface="Segoe UI"/>
              </a:rPr>
              <a:t>+ </a:t>
            </a:r>
            <a:r>
              <a:rPr sz="1400" spc="-10" dirty="0">
                <a:latin typeface="Segoe UI"/>
                <a:cs typeface="Segoe UI"/>
              </a:rPr>
              <a:t>Cancellation</a:t>
            </a:r>
            <a:endParaRPr sz="1400" dirty="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08803" y="5195315"/>
            <a:ext cx="1684020" cy="232410"/>
            <a:chOff x="4908803" y="5195315"/>
            <a:chExt cx="1684020" cy="2324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8803" y="5195315"/>
              <a:ext cx="76200" cy="2321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16623" y="5195315"/>
              <a:ext cx="76200" cy="232155"/>
            </a:xfrm>
            <a:prstGeom prst="rect">
              <a:avLst/>
            </a:prstGeom>
          </p:spPr>
        </p:pic>
      </p:grpSp>
      <p:sp>
        <p:nvSpPr>
          <p:cNvPr id="23" name="AutoShape 2" descr="Generated image: Performance indicators in a connected structure">
            <a:extLst>
              <a:ext uri="{FF2B5EF4-FFF2-40B4-BE49-F238E27FC236}">
                <a16:creationId xmlns:a16="http://schemas.microsoft.com/office/drawing/2014/main" id="{D6376B63-2644-B3AF-4061-C1E8CE3145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54677" y="3276599"/>
            <a:ext cx="3093723" cy="309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27B6F6-07CD-62E1-6853-E314E107F4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71" y="2209800"/>
            <a:ext cx="5175949" cy="29855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0E60F0-C26D-BD15-238C-3E31F167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4909DE40-3152-F9C6-D239-F854156C5452}"/>
              </a:ext>
            </a:extLst>
          </p:cNvPr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227AEE1-4954-B273-8B0C-AE00A4380ECF}"/>
              </a:ext>
            </a:extLst>
          </p:cNvPr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85B053C-2B3B-4347-78C4-0C1DAB8F6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0119" y="134823"/>
            <a:ext cx="1652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Dashboard</a:t>
            </a:r>
            <a:endParaRPr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84709-EB85-ED72-DD31-15F70D5FF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143000"/>
            <a:ext cx="8229600" cy="510539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32965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70119" y="134823"/>
            <a:ext cx="1652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Dashboard</a:t>
            </a:r>
            <a:endParaRPr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4EA61A-D3E2-AAA5-D1D3-2A0D2A7C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066800"/>
            <a:ext cx="8043889" cy="54864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4CE9BBD-DD72-B55C-F982-243A639F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7CCF6BA-FE9C-A6AC-41B8-31870EC0C8DC}"/>
              </a:ext>
            </a:extLst>
          </p:cNvPr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9E0AD70-9F8F-EBEA-2B9E-5D4F41CD2AC3}"/>
              </a:ext>
            </a:extLst>
          </p:cNvPr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AD10D5-B304-AE1A-387D-AB25068E00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0119" y="134823"/>
            <a:ext cx="1652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Dashboard</a:t>
            </a:r>
            <a:endParaRPr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B5F83B-C7B8-C240-8579-4C4C45D2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990600"/>
            <a:ext cx="8534400" cy="51816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267516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E8CBD1-E60B-1456-A802-FE3F7933E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6329603-F8B5-A718-11D1-7C3D13B46230}"/>
              </a:ext>
            </a:extLst>
          </p:cNvPr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E42D812-4F3F-F908-BB4F-4AD23132E1F9}"/>
              </a:ext>
            </a:extLst>
          </p:cNvPr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CED30C5-8CD1-6656-AA62-2BB9D432F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0119" y="134823"/>
            <a:ext cx="1652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/>
              <a:t>Dashboard</a:t>
            </a:r>
            <a:endParaRPr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DCE1F-5BA7-01B4-E6A0-CDFCFB6F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43000"/>
            <a:ext cx="7772399" cy="498606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156883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2443" y="484631"/>
            <a:ext cx="4829175" cy="76200"/>
          </a:xfrm>
          <a:custGeom>
            <a:avLst/>
            <a:gdLst/>
            <a:ahLst/>
            <a:cxnLst/>
            <a:rect l="l" t="t" r="r" b="b"/>
            <a:pathLst>
              <a:path w="482917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82917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829175" h="76200">
                <a:moveTo>
                  <a:pt x="482917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829175" y="44450"/>
                </a:lnTo>
                <a:lnTo>
                  <a:pt x="482917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842510" cy="76200"/>
          </a:xfrm>
          <a:custGeom>
            <a:avLst/>
            <a:gdLst/>
            <a:ahLst/>
            <a:cxnLst/>
            <a:rect l="l" t="t" r="r" b="b"/>
            <a:pathLst>
              <a:path w="4842510" h="76200">
                <a:moveTo>
                  <a:pt x="4804283" y="0"/>
                </a:moveTo>
                <a:lnTo>
                  <a:pt x="4789435" y="2988"/>
                </a:lnTo>
                <a:lnTo>
                  <a:pt x="4777327" y="11144"/>
                </a:lnTo>
                <a:lnTo>
                  <a:pt x="4769171" y="23252"/>
                </a:lnTo>
                <a:lnTo>
                  <a:pt x="4766183" y="38100"/>
                </a:lnTo>
                <a:lnTo>
                  <a:pt x="4769171" y="52947"/>
                </a:lnTo>
                <a:lnTo>
                  <a:pt x="4777327" y="65055"/>
                </a:lnTo>
                <a:lnTo>
                  <a:pt x="4789435" y="73211"/>
                </a:lnTo>
                <a:lnTo>
                  <a:pt x="4804283" y="76200"/>
                </a:lnTo>
                <a:lnTo>
                  <a:pt x="4819076" y="73211"/>
                </a:lnTo>
                <a:lnTo>
                  <a:pt x="4831191" y="65055"/>
                </a:lnTo>
                <a:lnTo>
                  <a:pt x="4839376" y="52947"/>
                </a:lnTo>
                <a:lnTo>
                  <a:pt x="4841097" y="44450"/>
                </a:lnTo>
                <a:lnTo>
                  <a:pt x="4804283" y="44450"/>
                </a:lnTo>
                <a:lnTo>
                  <a:pt x="4804283" y="31750"/>
                </a:lnTo>
                <a:lnTo>
                  <a:pt x="4841097" y="31750"/>
                </a:lnTo>
                <a:lnTo>
                  <a:pt x="4839376" y="23252"/>
                </a:lnTo>
                <a:lnTo>
                  <a:pt x="4831191" y="11144"/>
                </a:lnTo>
                <a:lnTo>
                  <a:pt x="4819076" y="2988"/>
                </a:lnTo>
                <a:lnTo>
                  <a:pt x="4804283" y="0"/>
                </a:lnTo>
                <a:close/>
              </a:path>
              <a:path w="4842510" h="76200">
                <a:moveTo>
                  <a:pt x="476746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767461" y="44450"/>
                </a:lnTo>
                <a:lnTo>
                  <a:pt x="4766183" y="38100"/>
                </a:lnTo>
                <a:lnTo>
                  <a:pt x="4767461" y="31750"/>
                </a:lnTo>
                <a:close/>
              </a:path>
              <a:path w="4842510" h="76200">
                <a:moveTo>
                  <a:pt x="4841097" y="31750"/>
                </a:moveTo>
                <a:lnTo>
                  <a:pt x="4804283" y="31750"/>
                </a:lnTo>
                <a:lnTo>
                  <a:pt x="4804283" y="44450"/>
                </a:lnTo>
                <a:lnTo>
                  <a:pt x="4841097" y="44450"/>
                </a:lnTo>
                <a:lnTo>
                  <a:pt x="4842383" y="38100"/>
                </a:lnTo>
                <a:lnTo>
                  <a:pt x="4841097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12557" y="2010282"/>
            <a:ext cx="4116704" cy="2904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Segoe UI"/>
                <a:cs typeface="Segoe UI"/>
              </a:rPr>
              <a:t>City-</a:t>
            </a:r>
            <a:r>
              <a:rPr sz="1600" b="1" dirty="0">
                <a:latin typeface="Segoe UI"/>
                <a:cs typeface="Segoe UI"/>
              </a:rPr>
              <a:t>wise</a:t>
            </a:r>
            <a:r>
              <a:rPr sz="1600" b="1" spc="-15" dirty="0">
                <a:latin typeface="Segoe UI"/>
                <a:cs typeface="Segoe UI"/>
              </a:rPr>
              <a:t> </a:t>
            </a:r>
            <a:r>
              <a:rPr sz="1600" b="1" spc="-10" dirty="0">
                <a:latin typeface="Segoe UI"/>
                <a:cs typeface="Segoe UI"/>
              </a:rPr>
              <a:t>Ranking</a:t>
            </a:r>
            <a:endParaRPr sz="1600" dirty="0">
              <a:latin typeface="Segoe UI"/>
              <a:cs typeface="Segoe UI"/>
            </a:endParaRPr>
          </a:p>
          <a:p>
            <a:pPr marL="195580" indent="-182880">
              <a:lnSpc>
                <a:spcPct val="100000"/>
              </a:lnSpc>
              <a:spcBef>
                <a:spcPts val="1965"/>
              </a:spcBef>
              <a:buFont typeface="Segoe UI"/>
              <a:buAutoNum type="arabicPeriod"/>
              <a:tabLst>
                <a:tab pos="195580" algn="l"/>
              </a:tabLst>
            </a:pPr>
            <a:r>
              <a:rPr sz="1400" b="1" i="1" dirty="0">
                <a:latin typeface="Segoe UI"/>
                <a:cs typeface="Segoe UI"/>
              </a:rPr>
              <a:t>Mumbai</a:t>
            </a:r>
            <a:r>
              <a:rPr sz="1400" b="1" i="1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leads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revenue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generation</a:t>
            </a:r>
            <a:r>
              <a:rPr sz="1400" b="1" i="1" spc="-5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spc="-25" dirty="0">
                <a:latin typeface="Segoe UI"/>
                <a:cs typeface="Segoe UI"/>
              </a:rPr>
              <a:t>669</a:t>
            </a: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400" b="1" i="1" dirty="0">
                <a:latin typeface="Segoe UI"/>
                <a:cs typeface="Segoe UI"/>
              </a:rPr>
              <a:t>million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(39.13%),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followed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Bangalore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(24.6%),</a:t>
            </a: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400" dirty="0">
                <a:latin typeface="Segoe UI"/>
                <a:cs typeface="Segoe UI"/>
              </a:rPr>
              <a:t>Hyderabad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(19.03%),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Delhi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(17.23%).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</a:pP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00" dirty="0">
              <a:latin typeface="Segoe UI"/>
              <a:cs typeface="Segoe UI"/>
            </a:endParaRPr>
          </a:p>
          <a:p>
            <a:pPr marL="203835" indent="-191135">
              <a:lnSpc>
                <a:spcPct val="100000"/>
              </a:lnSpc>
              <a:buFont typeface="Segoe UI"/>
              <a:buAutoNum type="arabicPeriod" startAt="2"/>
              <a:tabLst>
                <a:tab pos="203835" algn="l"/>
              </a:tabLst>
            </a:pPr>
            <a:r>
              <a:rPr sz="1400" b="1" i="1" dirty="0">
                <a:latin typeface="Segoe UI"/>
                <a:cs typeface="Segoe UI"/>
              </a:rPr>
              <a:t>Delhi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emerges as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top-</a:t>
            </a:r>
            <a:r>
              <a:rPr sz="1400" dirty="0">
                <a:latin typeface="Segoe UI"/>
                <a:cs typeface="Segoe UI"/>
              </a:rPr>
              <a:t>performing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city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both</a:t>
            </a:r>
            <a:endParaRPr sz="14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400" b="1" i="1" dirty="0">
                <a:latin typeface="Segoe UI"/>
                <a:cs typeface="Segoe UI"/>
              </a:rPr>
              <a:t>Occupancy</a:t>
            </a:r>
            <a:r>
              <a:rPr sz="1400" b="1" i="1" spc="-6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%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and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Average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Rating</a:t>
            </a:r>
            <a:r>
              <a:rPr sz="1400" spc="-10" dirty="0">
                <a:latin typeface="Segoe UI"/>
                <a:cs typeface="Segoe UI"/>
              </a:rPr>
              <a:t>.</a:t>
            </a:r>
            <a:endParaRPr sz="1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 dirty="0">
              <a:latin typeface="Segoe UI"/>
              <a:cs typeface="Segoe UI"/>
            </a:endParaRPr>
          </a:p>
          <a:p>
            <a:pPr marL="12700" marR="5080">
              <a:lnSpc>
                <a:spcPct val="112900"/>
              </a:lnSpc>
            </a:pPr>
            <a:r>
              <a:rPr sz="1400" dirty="0">
                <a:latin typeface="Segoe UI"/>
                <a:cs typeface="Segoe UI"/>
              </a:rPr>
              <a:t>Following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closely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behind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Hyderabad,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Mumbai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and </a:t>
            </a:r>
            <a:r>
              <a:rPr sz="1400" dirty="0">
                <a:latin typeface="Segoe UI"/>
                <a:cs typeface="Segoe UI"/>
              </a:rPr>
              <a:t>Bangalore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also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demonstrate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strong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performance</a:t>
            </a:r>
            <a:endParaRPr sz="1400" dirty="0">
              <a:latin typeface="Segoe UI"/>
              <a:cs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5FFCCF-7A7E-8949-659E-CA6CCE0A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152641"/>
            <a:ext cx="4876800" cy="2904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248143" y="484631"/>
            <a:ext cx="4944110" cy="76200"/>
          </a:xfrm>
          <a:custGeom>
            <a:avLst/>
            <a:gdLst/>
            <a:ahLst/>
            <a:cxnLst/>
            <a:rect l="l" t="t" r="r" b="b"/>
            <a:pathLst>
              <a:path w="494410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4109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4109" h="76200">
                <a:moveTo>
                  <a:pt x="494398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3983" y="44450"/>
                </a:lnTo>
                <a:lnTo>
                  <a:pt x="494398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4" dirty="0"/>
              <a:t>Insights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70916"/>
            <a:ext cx="4900930" cy="76200"/>
          </a:xfrm>
          <a:custGeom>
            <a:avLst/>
            <a:gdLst/>
            <a:ahLst/>
            <a:cxnLst/>
            <a:rect l="l" t="t" r="r" b="b"/>
            <a:pathLst>
              <a:path w="4900930" h="76200">
                <a:moveTo>
                  <a:pt x="4862322" y="0"/>
                </a:moveTo>
                <a:lnTo>
                  <a:pt x="4847474" y="2988"/>
                </a:lnTo>
                <a:lnTo>
                  <a:pt x="4835366" y="11144"/>
                </a:lnTo>
                <a:lnTo>
                  <a:pt x="4827210" y="23252"/>
                </a:lnTo>
                <a:lnTo>
                  <a:pt x="4824222" y="38100"/>
                </a:lnTo>
                <a:lnTo>
                  <a:pt x="4827210" y="52947"/>
                </a:lnTo>
                <a:lnTo>
                  <a:pt x="4835366" y="65055"/>
                </a:lnTo>
                <a:lnTo>
                  <a:pt x="4847474" y="73211"/>
                </a:lnTo>
                <a:lnTo>
                  <a:pt x="4862322" y="76200"/>
                </a:lnTo>
                <a:lnTo>
                  <a:pt x="4877115" y="73211"/>
                </a:lnTo>
                <a:lnTo>
                  <a:pt x="4889230" y="65055"/>
                </a:lnTo>
                <a:lnTo>
                  <a:pt x="4897415" y="52947"/>
                </a:lnTo>
                <a:lnTo>
                  <a:pt x="4899136" y="44450"/>
                </a:lnTo>
                <a:lnTo>
                  <a:pt x="4862322" y="44450"/>
                </a:lnTo>
                <a:lnTo>
                  <a:pt x="4862322" y="31750"/>
                </a:lnTo>
                <a:lnTo>
                  <a:pt x="4899136" y="31750"/>
                </a:lnTo>
                <a:lnTo>
                  <a:pt x="4897415" y="23252"/>
                </a:lnTo>
                <a:lnTo>
                  <a:pt x="4889230" y="11144"/>
                </a:lnTo>
                <a:lnTo>
                  <a:pt x="4877115" y="2988"/>
                </a:lnTo>
                <a:lnTo>
                  <a:pt x="4862322" y="0"/>
                </a:lnTo>
                <a:close/>
              </a:path>
              <a:path w="4900930" h="76200">
                <a:moveTo>
                  <a:pt x="48255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25500" y="44450"/>
                </a:lnTo>
                <a:lnTo>
                  <a:pt x="4824222" y="38100"/>
                </a:lnTo>
                <a:lnTo>
                  <a:pt x="4825500" y="31750"/>
                </a:lnTo>
                <a:close/>
              </a:path>
              <a:path w="4900930" h="76200">
                <a:moveTo>
                  <a:pt x="4899136" y="31750"/>
                </a:moveTo>
                <a:lnTo>
                  <a:pt x="4862322" y="31750"/>
                </a:lnTo>
                <a:lnTo>
                  <a:pt x="4862322" y="44450"/>
                </a:lnTo>
                <a:lnTo>
                  <a:pt x="4899136" y="44450"/>
                </a:lnTo>
                <a:lnTo>
                  <a:pt x="4900422" y="38100"/>
                </a:lnTo>
                <a:lnTo>
                  <a:pt x="489913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11910" y="4632705"/>
            <a:ext cx="9573895" cy="1520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analysis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Hotels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performance</a:t>
            </a:r>
            <a:r>
              <a:rPr sz="1400" b="1" i="1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India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for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weeks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19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32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certain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trends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out.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Week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32</a:t>
            </a:r>
            <a:r>
              <a:rPr sz="1400" b="1" i="1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(August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14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August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shows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occupancy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rate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65.3%,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indicating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demand.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Week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26 </a:t>
            </a:r>
            <a:r>
              <a:rPr sz="1400" dirty="0">
                <a:latin typeface="Segoe UI"/>
                <a:cs typeface="Segoe UI"/>
              </a:rPr>
              <a:t>(July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03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July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09,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week</a:t>
            </a:r>
            <a:r>
              <a:rPr sz="1400" i="1" spc="-5" dirty="0">
                <a:latin typeface="Segoe UI"/>
                <a:cs typeface="Segoe UI"/>
              </a:rPr>
              <a:t> </a:t>
            </a:r>
            <a:r>
              <a:rPr sz="1400" i="1" dirty="0">
                <a:latin typeface="Segoe UI"/>
                <a:cs typeface="Segoe UI"/>
              </a:rPr>
              <a:t>31</a:t>
            </a:r>
            <a:r>
              <a:rPr sz="1400" i="1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(August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07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 August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13,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</a:t>
            </a:r>
            <a:r>
              <a:rPr sz="1400" spc="1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lower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occupancy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rates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spc="-20" dirty="0">
                <a:latin typeface="Segoe UI"/>
                <a:cs typeface="Segoe UI"/>
              </a:rPr>
              <a:t>51%.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Week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23 </a:t>
            </a:r>
            <a:r>
              <a:rPr sz="1400" dirty="0">
                <a:latin typeface="Segoe UI"/>
                <a:cs typeface="Segoe UI"/>
              </a:rPr>
              <a:t>(June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12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June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18,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shines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average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rating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3.65</a:t>
            </a:r>
            <a:r>
              <a:rPr sz="1400" spc="-10" dirty="0">
                <a:latin typeface="Segoe UI"/>
                <a:cs typeface="Segoe UI"/>
              </a:rPr>
              <a:t>,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22</a:t>
            </a:r>
            <a:r>
              <a:rPr sz="1400" b="1" i="1" spc="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(June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05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June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11,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30</a:t>
            </a:r>
            <a:r>
              <a:rPr sz="1400" b="1" i="1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(July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31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August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06,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show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slightly lower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ratings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3.51</a:t>
            </a:r>
            <a:r>
              <a:rPr sz="1400" spc="-10" dirty="0">
                <a:latin typeface="Segoe UI"/>
                <a:cs typeface="Segoe UI"/>
              </a:rPr>
              <a:t>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F7EBDC-6089-834B-3114-E274EBF83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219200"/>
            <a:ext cx="8001000" cy="2759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2443" y="484631"/>
            <a:ext cx="4829175" cy="76200"/>
          </a:xfrm>
          <a:custGeom>
            <a:avLst/>
            <a:gdLst/>
            <a:ahLst/>
            <a:cxnLst/>
            <a:rect l="l" t="t" r="r" b="b"/>
            <a:pathLst>
              <a:path w="482917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82917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829175" h="76200">
                <a:moveTo>
                  <a:pt x="482917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829175" y="44450"/>
                </a:lnTo>
                <a:lnTo>
                  <a:pt x="482917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4876800" y="0"/>
                </a:moveTo>
                <a:lnTo>
                  <a:pt x="4861952" y="2988"/>
                </a:lnTo>
                <a:lnTo>
                  <a:pt x="4849844" y="11144"/>
                </a:lnTo>
                <a:lnTo>
                  <a:pt x="4841688" y="23252"/>
                </a:lnTo>
                <a:lnTo>
                  <a:pt x="4838700" y="38100"/>
                </a:lnTo>
                <a:lnTo>
                  <a:pt x="4841688" y="52947"/>
                </a:lnTo>
                <a:lnTo>
                  <a:pt x="4849844" y="65055"/>
                </a:lnTo>
                <a:lnTo>
                  <a:pt x="4861952" y="73211"/>
                </a:lnTo>
                <a:lnTo>
                  <a:pt x="4876800" y="76200"/>
                </a:lnTo>
                <a:lnTo>
                  <a:pt x="4891647" y="73211"/>
                </a:lnTo>
                <a:lnTo>
                  <a:pt x="4903755" y="65055"/>
                </a:lnTo>
                <a:lnTo>
                  <a:pt x="4911911" y="52947"/>
                </a:lnTo>
                <a:lnTo>
                  <a:pt x="4913621" y="44450"/>
                </a:lnTo>
                <a:lnTo>
                  <a:pt x="4876800" y="44450"/>
                </a:lnTo>
                <a:lnTo>
                  <a:pt x="4876800" y="31750"/>
                </a:lnTo>
                <a:lnTo>
                  <a:pt x="4913621" y="31750"/>
                </a:lnTo>
                <a:lnTo>
                  <a:pt x="4911911" y="23252"/>
                </a:lnTo>
                <a:lnTo>
                  <a:pt x="4903755" y="11144"/>
                </a:lnTo>
                <a:lnTo>
                  <a:pt x="4891647" y="2988"/>
                </a:lnTo>
                <a:lnTo>
                  <a:pt x="4876800" y="0"/>
                </a:lnTo>
                <a:close/>
              </a:path>
              <a:path w="4914900" h="76200">
                <a:moveTo>
                  <a:pt x="48399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39978" y="44450"/>
                </a:lnTo>
                <a:lnTo>
                  <a:pt x="4838700" y="38100"/>
                </a:lnTo>
                <a:lnTo>
                  <a:pt x="4839978" y="31750"/>
                </a:lnTo>
                <a:close/>
              </a:path>
              <a:path w="4914900" h="76200">
                <a:moveTo>
                  <a:pt x="4913621" y="31750"/>
                </a:moveTo>
                <a:lnTo>
                  <a:pt x="4876800" y="31750"/>
                </a:lnTo>
                <a:lnTo>
                  <a:pt x="4876800" y="44450"/>
                </a:lnTo>
                <a:lnTo>
                  <a:pt x="4913621" y="44450"/>
                </a:lnTo>
                <a:lnTo>
                  <a:pt x="4914900" y="38100"/>
                </a:lnTo>
                <a:lnTo>
                  <a:pt x="49136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52006" y="1216532"/>
            <a:ext cx="4560570" cy="493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34734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weekdays,</a:t>
            </a:r>
            <a:r>
              <a:rPr sz="1400" b="1" i="1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1185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million </a:t>
            </a:r>
            <a:r>
              <a:rPr sz="1400" dirty="0">
                <a:latin typeface="Segoe UI"/>
                <a:cs typeface="Segoe UI"/>
              </a:rPr>
              <a:t>rupees,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representing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69.34%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revenue.</a:t>
            </a:r>
            <a:endParaRPr sz="1400">
              <a:latin typeface="Segoe UI"/>
              <a:cs typeface="Segoe UI"/>
            </a:endParaRPr>
          </a:p>
          <a:p>
            <a:pPr marL="299085" marR="229235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stands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55.99%,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Average</a:t>
            </a:r>
            <a:r>
              <a:rPr sz="1400" spc="-10" dirty="0">
                <a:latin typeface="Segoe UI"/>
                <a:cs typeface="Segoe UI"/>
              </a:rPr>
              <a:t> Daily </a:t>
            </a:r>
            <a:r>
              <a:rPr sz="1400" dirty="0">
                <a:latin typeface="Segoe UI"/>
                <a:cs typeface="Segoe UI"/>
              </a:rPr>
              <a:t>Rate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(ADR)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12,683.18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per </a:t>
            </a:r>
            <a:r>
              <a:rPr sz="1400" spc="-10" dirty="0">
                <a:latin typeface="Segoe UI"/>
                <a:cs typeface="Segoe UI"/>
              </a:rPr>
              <a:t>Available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(RevPAR)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7.10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thousand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rupees.</a:t>
            </a:r>
            <a:endParaRPr sz="1400">
              <a:latin typeface="Segoe UI"/>
              <a:cs typeface="Segoe UI"/>
            </a:endParaRPr>
          </a:p>
          <a:p>
            <a:pPr marL="299085" marR="4064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Exotica</a:t>
            </a:r>
            <a:r>
              <a:rPr sz="1400" b="1" i="1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Hotel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leads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revenue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with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spc="-25" dirty="0">
                <a:latin typeface="Segoe UI"/>
                <a:cs typeface="Segoe UI"/>
              </a:rPr>
              <a:t>222 </a:t>
            </a:r>
            <a:r>
              <a:rPr sz="1400" b="1" i="1" dirty="0">
                <a:latin typeface="Segoe UI"/>
                <a:cs typeface="Segoe UI"/>
              </a:rPr>
              <a:t>million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Mumbai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alone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contributes </a:t>
            </a:r>
            <a:r>
              <a:rPr sz="1400" b="1" i="1" dirty="0">
                <a:latin typeface="Segoe UI"/>
                <a:cs typeface="Segoe UI"/>
              </a:rPr>
              <a:t>147M</a:t>
            </a:r>
            <a:r>
              <a:rPr sz="1400" b="1" i="1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rupees.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hand,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Seasons </a:t>
            </a:r>
            <a:r>
              <a:rPr sz="1400" dirty="0">
                <a:latin typeface="Segoe UI"/>
                <a:cs typeface="Segoe UI"/>
              </a:rPr>
              <a:t>records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comparatively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lower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46M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 </a:t>
            </a: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weekdays.</a:t>
            </a:r>
            <a:endParaRPr sz="140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weekends</a:t>
            </a:r>
            <a:r>
              <a:rPr sz="1400" b="1" i="1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524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million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rupees, </a:t>
            </a:r>
            <a:r>
              <a:rPr sz="1400" dirty="0">
                <a:latin typeface="Segoe UI"/>
                <a:cs typeface="Segoe UI"/>
              </a:rPr>
              <a:t>constituting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30.66%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revenue.</a:t>
            </a:r>
            <a:endParaRPr sz="1400">
              <a:latin typeface="Segoe UI"/>
              <a:cs typeface="Segoe UI"/>
            </a:endParaRPr>
          </a:p>
          <a:p>
            <a:pPr marL="299085" marR="281305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increases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62.64%,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accompanied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50" dirty="0">
                <a:latin typeface="Segoe UI"/>
                <a:cs typeface="Segoe UI"/>
              </a:rPr>
              <a:t>a </a:t>
            </a:r>
            <a:r>
              <a:rPr sz="1400" dirty="0">
                <a:latin typeface="Segoe UI"/>
                <a:cs typeface="Segoe UI"/>
              </a:rPr>
              <a:t>slightly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ADR of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12,725.49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 </a:t>
            </a:r>
            <a:r>
              <a:rPr sz="1400" dirty="0">
                <a:latin typeface="Segoe UI"/>
                <a:cs typeface="Segoe UI"/>
              </a:rPr>
              <a:t>improved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RevPAR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7.97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thousand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rupees.</a:t>
            </a:r>
            <a:endParaRPr sz="1400">
              <a:latin typeface="Segoe UI"/>
              <a:cs typeface="Segoe UI"/>
            </a:endParaRPr>
          </a:p>
          <a:p>
            <a:pPr marL="299085" marR="16764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Exotica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maintains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its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status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with </a:t>
            </a:r>
            <a:r>
              <a:rPr sz="1400" dirty="0">
                <a:latin typeface="Segoe UI"/>
                <a:cs typeface="Segoe UI"/>
              </a:rPr>
              <a:t>98M,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Seasons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generates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20M,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surpassing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hotels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weekends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ABB03E-0F20-D466-D228-4A3D6F3C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5036"/>
            <a:ext cx="4284963" cy="25663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0C9B40-F677-EF97-2A86-68331F920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168" y="4366725"/>
            <a:ext cx="3128732" cy="9560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0A8382-6461-59B6-F386-81D85BBC3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486400"/>
            <a:ext cx="3086100" cy="8755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190231" y="484631"/>
            <a:ext cx="5002530" cy="76200"/>
          </a:xfrm>
          <a:custGeom>
            <a:avLst/>
            <a:gdLst/>
            <a:ahLst/>
            <a:cxnLst/>
            <a:rect l="l" t="t" r="r" b="b"/>
            <a:pathLst>
              <a:path w="500253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500253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5002530" h="76200">
                <a:moveTo>
                  <a:pt x="5002022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5002022" y="44450"/>
                </a:lnTo>
                <a:lnTo>
                  <a:pt x="5002022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84631"/>
            <a:ext cx="4900930" cy="76200"/>
          </a:xfrm>
          <a:custGeom>
            <a:avLst/>
            <a:gdLst/>
            <a:ahLst/>
            <a:cxnLst/>
            <a:rect l="l" t="t" r="r" b="b"/>
            <a:pathLst>
              <a:path w="4900930" h="76200">
                <a:moveTo>
                  <a:pt x="4862322" y="0"/>
                </a:moveTo>
                <a:lnTo>
                  <a:pt x="4847474" y="2988"/>
                </a:lnTo>
                <a:lnTo>
                  <a:pt x="4835366" y="11144"/>
                </a:lnTo>
                <a:lnTo>
                  <a:pt x="4827210" y="23252"/>
                </a:lnTo>
                <a:lnTo>
                  <a:pt x="4824222" y="38100"/>
                </a:lnTo>
                <a:lnTo>
                  <a:pt x="4827210" y="52947"/>
                </a:lnTo>
                <a:lnTo>
                  <a:pt x="4835366" y="65055"/>
                </a:lnTo>
                <a:lnTo>
                  <a:pt x="4847474" y="73211"/>
                </a:lnTo>
                <a:lnTo>
                  <a:pt x="4862322" y="76200"/>
                </a:lnTo>
                <a:lnTo>
                  <a:pt x="4877115" y="73211"/>
                </a:lnTo>
                <a:lnTo>
                  <a:pt x="4889230" y="65055"/>
                </a:lnTo>
                <a:lnTo>
                  <a:pt x="4897415" y="52947"/>
                </a:lnTo>
                <a:lnTo>
                  <a:pt x="4899136" y="44450"/>
                </a:lnTo>
                <a:lnTo>
                  <a:pt x="4862322" y="44450"/>
                </a:lnTo>
                <a:lnTo>
                  <a:pt x="4862322" y="31750"/>
                </a:lnTo>
                <a:lnTo>
                  <a:pt x="4899136" y="31750"/>
                </a:lnTo>
                <a:lnTo>
                  <a:pt x="4897415" y="23252"/>
                </a:lnTo>
                <a:lnTo>
                  <a:pt x="4889230" y="11144"/>
                </a:lnTo>
                <a:lnTo>
                  <a:pt x="4877115" y="2988"/>
                </a:lnTo>
                <a:lnTo>
                  <a:pt x="4862322" y="0"/>
                </a:lnTo>
                <a:close/>
              </a:path>
              <a:path w="4900930" h="76200">
                <a:moveTo>
                  <a:pt x="48255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25500" y="44450"/>
                </a:lnTo>
                <a:lnTo>
                  <a:pt x="4824222" y="38100"/>
                </a:lnTo>
                <a:lnTo>
                  <a:pt x="4825500" y="31750"/>
                </a:lnTo>
                <a:close/>
              </a:path>
              <a:path w="4900930" h="76200">
                <a:moveTo>
                  <a:pt x="4899136" y="31750"/>
                </a:moveTo>
                <a:lnTo>
                  <a:pt x="4862322" y="31750"/>
                </a:lnTo>
                <a:lnTo>
                  <a:pt x="4862322" y="44450"/>
                </a:lnTo>
                <a:lnTo>
                  <a:pt x="4899136" y="44450"/>
                </a:lnTo>
                <a:lnTo>
                  <a:pt x="4900422" y="38100"/>
                </a:lnTo>
                <a:lnTo>
                  <a:pt x="489913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4463" y="4841240"/>
            <a:ext cx="9850755" cy="15260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7975" algn="l"/>
              </a:tabLst>
            </a:pPr>
            <a:r>
              <a:rPr sz="1400" b="1" i="1" dirty="0">
                <a:latin typeface="Segoe UI"/>
                <a:cs typeface="Segoe UI"/>
              </a:rPr>
              <a:t>Direct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offline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bookings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indicate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lower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count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ratings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8.1K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(6.02%),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whereas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bookings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through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platforms 	</a:t>
            </a:r>
            <a:r>
              <a:rPr sz="1400" dirty="0">
                <a:latin typeface="Segoe UI"/>
                <a:cs typeface="Segoe UI"/>
              </a:rPr>
              <a:t>showcase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higher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ratings.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Notably,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bookings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via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spc="-30" dirty="0">
                <a:latin typeface="Segoe UI"/>
                <a:cs typeface="Segoe UI"/>
              </a:rPr>
              <a:t>MakeYourTrip</a:t>
            </a:r>
            <a:r>
              <a:rPr sz="1400" b="1" i="1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account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19.9%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total.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Among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types,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Elite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rooms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secure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the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highest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number</a:t>
            </a:r>
            <a:r>
              <a:rPr sz="1400" b="1" i="1" spc="-5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bookings</a:t>
            </a:r>
            <a:r>
              <a:rPr sz="1400" dirty="0">
                <a:latin typeface="Segoe UI"/>
                <a:cs typeface="Segoe UI"/>
              </a:rPr>
              <a:t>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comprising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lang="en-IN" sz="1400" b="1" i="1" spc="-45" dirty="0">
                <a:latin typeface="Segoe UI"/>
                <a:cs typeface="Segoe UI"/>
              </a:rPr>
              <a:t>50</a:t>
            </a:r>
            <a:r>
              <a:rPr sz="1400" b="1" i="1" dirty="0">
                <a:latin typeface="Segoe UI"/>
                <a:cs typeface="Segoe UI"/>
              </a:rPr>
              <a:t>K</a:t>
            </a:r>
            <a:r>
              <a:rPr sz="1400" b="1" i="1" spc="-10" dirty="0">
                <a:latin typeface="Segoe UI"/>
                <a:cs typeface="Segoe UI"/>
              </a:rPr>
              <a:t> (36.78%).</a:t>
            </a:r>
            <a:endParaRPr lang="en-IN" sz="1400" b="1" i="1" spc="-1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Following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Elite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Standard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28.57%,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Premium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22.71%,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Presidential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11.94%.</a:t>
            </a:r>
            <a:endParaRPr sz="1400" dirty="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B5546E-B32B-0D3E-8177-2B111B0E9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600200"/>
            <a:ext cx="7924800" cy="2590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64463" y="4841240"/>
            <a:ext cx="946277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weeks</a:t>
            </a:r>
            <a:r>
              <a:rPr sz="1400" spc="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19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32,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W32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(Aug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14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20,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highest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spc="-25" dirty="0">
                <a:latin typeface="Segoe UI"/>
                <a:cs typeface="Segoe UI"/>
              </a:rPr>
              <a:t>RevPAR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10" dirty="0">
                <a:latin typeface="Segoe UI"/>
                <a:cs typeface="Segoe UI"/>
              </a:rPr>
              <a:t> 8.31K,</a:t>
            </a:r>
            <a:endParaRPr sz="1400">
              <a:latin typeface="Segoe UI"/>
              <a:cs typeface="Segoe UI"/>
            </a:endParaRPr>
          </a:p>
          <a:p>
            <a:pPr marL="307975">
              <a:lnSpc>
                <a:spcPct val="100000"/>
              </a:lnSpc>
            </a:pP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W21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(May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22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28,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W30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(July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31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Aug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06,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showing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lower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values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10" dirty="0">
                <a:latin typeface="Segoe UI"/>
                <a:cs typeface="Segoe UI"/>
              </a:rPr>
              <a:t> 6.49K.</a:t>
            </a:r>
            <a:endParaRPr sz="140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W28</a:t>
            </a:r>
            <a:r>
              <a:rPr sz="1400" b="1" i="1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(July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10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July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16,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W31</a:t>
            </a:r>
            <a:r>
              <a:rPr sz="1400" b="1" i="1" spc="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(Aug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07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Aug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13,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exhibit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</a:t>
            </a:r>
            <a:r>
              <a:rPr sz="1400" b="1" i="1" spc="-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ADR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5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12.75K</a:t>
            </a:r>
            <a:r>
              <a:rPr sz="1400" spc="-10" dirty="0">
                <a:latin typeface="Segoe UI"/>
                <a:cs typeface="Segoe UI"/>
              </a:rPr>
              <a:t>,</a:t>
            </a:r>
            <a:endParaRPr sz="1400">
              <a:latin typeface="Segoe UI"/>
              <a:cs typeface="Segoe UI"/>
            </a:endParaRPr>
          </a:p>
          <a:p>
            <a:pPr marL="30797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W19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(May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01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-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May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07,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2022)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shows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slightly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lower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ADR at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12.60K.</a:t>
            </a:r>
            <a:endParaRPr sz="140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07975" algn="l"/>
              </a:tabLst>
            </a:pPr>
            <a:r>
              <a:rPr sz="1400" dirty="0">
                <a:latin typeface="Segoe UI"/>
                <a:cs typeface="Segoe UI"/>
              </a:rPr>
              <a:t>In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W32,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Seasons</a:t>
            </a:r>
            <a:r>
              <a:rPr sz="1400" b="1" i="1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impresses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ADR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17.32K</a:t>
            </a:r>
            <a:r>
              <a:rPr sz="1400" dirty="0">
                <a:latin typeface="Segoe UI"/>
                <a:cs typeface="Segoe UI"/>
              </a:rPr>
              <a:t>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Palace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achieves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the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highest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spc="-25" dirty="0">
                <a:latin typeface="Segoe UI"/>
                <a:cs typeface="Segoe UI"/>
              </a:rPr>
              <a:t>RevPAR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of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8.85K</a:t>
            </a:r>
            <a:r>
              <a:rPr sz="1400" spc="-10" dirty="0">
                <a:latin typeface="Segoe UI"/>
                <a:cs typeface="Segoe UI"/>
              </a:rPr>
              <a:t>, 	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highest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among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all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hotels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this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period.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998711-C034-8EA6-5448-35D829B51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825071" cy="31623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306056" y="484631"/>
            <a:ext cx="4886325" cy="76200"/>
          </a:xfrm>
          <a:custGeom>
            <a:avLst/>
            <a:gdLst/>
            <a:ahLst/>
            <a:cxnLst/>
            <a:rect l="l" t="t" r="r" b="b"/>
            <a:pathLst>
              <a:path w="48863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8863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886325" h="76200">
                <a:moveTo>
                  <a:pt x="4885817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885817" y="44450"/>
                </a:lnTo>
                <a:lnTo>
                  <a:pt x="4885817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5800" y="197815"/>
            <a:ext cx="9404723" cy="140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84631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4876800" y="0"/>
                </a:moveTo>
                <a:lnTo>
                  <a:pt x="4861952" y="2988"/>
                </a:lnTo>
                <a:lnTo>
                  <a:pt x="4849844" y="11144"/>
                </a:lnTo>
                <a:lnTo>
                  <a:pt x="4841688" y="23252"/>
                </a:lnTo>
                <a:lnTo>
                  <a:pt x="4838700" y="38100"/>
                </a:lnTo>
                <a:lnTo>
                  <a:pt x="4841688" y="52947"/>
                </a:lnTo>
                <a:lnTo>
                  <a:pt x="4849844" y="65055"/>
                </a:lnTo>
                <a:lnTo>
                  <a:pt x="4861952" y="73211"/>
                </a:lnTo>
                <a:lnTo>
                  <a:pt x="4876800" y="76200"/>
                </a:lnTo>
                <a:lnTo>
                  <a:pt x="4891647" y="73211"/>
                </a:lnTo>
                <a:lnTo>
                  <a:pt x="4903755" y="65055"/>
                </a:lnTo>
                <a:lnTo>
                  <a:pt x="4911911" y="52947"/>
                </a:lnTo>
                <a:lnTo>
                  <a:pt x="4913621" y="44450"/>
                </a:lnTo>
                <a:lnTo>
                  <a:pt x="4876800" y="44450"/>
                </a:lnTo>
                <a:lnTo>
                  <a:pt x="4876800" y="31750"/>
                </a:lnTo>
                <a:lnTo>
                  <a:pt x="4913621" y="31750"/>
                </a:lnTo>
                <a:lnTo>
                  <a:pt x="4911911" y="23252"/>
                </a:lnTo>
                <a:lnTo>
                  <a:pt x="4903755" y="11144"/>
                </a:lnTo>
                <a:lnTo>
                  <a:pt x="4891647" y="2988"/>
                </a:lnTo>
                <a:lnTo>
                  <a:pt x="4876800" y="0"/>
                </a:lnTo>
                <a:close/>
              </a:path>
              <a:path w="4914900" h="76200">
                <a:moveTo>
                  <a:pt x="48399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39978" y="44450"/>
                </a:lnTo>
                <a:lnTo>
                  <a:pt x="4838700" y="38100"/>
                </a:lnTo>
                <a:lnTo>
                  <a:pt x="4839978" y="31750"/>
                </a:lnTo>
                <a:close/>
              </a:path>
              <a:path w="4914900" h="76200">
                <a:moveTo>
                  <a:pt x="4913621" y="31750"/>
                </a:moveTo>
                <a:lnTo>
                  <a:pt x="4876800" y="31750"/>
                </a:lnTo>
                <a:lnTo>
                  <a:pt x="4876800" y="44450"/>
                </a:lnTo>
                <a:lnTo>
                  <a:pt x="4913621" y="44450"/>
                </a:lnTo>
                <a:lnTo>
                  <a:pt x="4914900" y="38100"/>
                </a:lnTo>
                <a:lnTo>
                  <a:pt x="49136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4463" y="4841240"/>
            <a:ext cx="10492740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1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Blu</a:t>
            </a:r>
            <a:r>
              <a:rPr sz="1400" b="1" i="1" spc="-1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has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the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highest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occupancy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rate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62%,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highlighting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significant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demand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for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this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property.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While,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Seasons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records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lowest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rate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lang="en-IN" sz="1400" spc="-40" dirty="0">
                <a:latin typeface="Segoe UI"/>
                <a:cs typeface="Segoe UI"/>
              </a:rPr>
              <a:t>44</a:t>
            </a:r>
            <a:r>
              <a:rPr sz="1400" dirty="0">
                <a:latin typeface="Segoe UI"/>
                <a:cs typeface="Segoe UI"/>
              </a:rPr>
              <a:t>.</a:t>
            </a:r>
            <a:r>
              <a:rPr lang="en-IN" sz="1400" dirty="0">
                <a:latin typeface="Segoe UI"/>
                <a:cs typeface="Segoe UI"/>
              </a:rPr>
              <a:t>62</a:t>
            </a:r>
            <a:r>
              <a:rPr sz="1400" dirty="0">
                <a:latin typeface="Segoe UI"/>
                <a:cs typeface="Segoe UI"/>
              </a:rPr>
              <a:t>%,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indicating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potential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areas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for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improvement.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terms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cancellations,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sz="1400" b="1" i="1" dirty="0" err="1">
                <a:latin typeface="Segoe UI"/>
                <a:cs typeface="Segoe UI"/>
              </a:rPr>
              <a:t>Atliq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lang="en-IN" sz="1400" b="1" i="1" spc="-10" dirty="0">
                <a:latin typeface="Segoe UI"/>
                <a:cs typeface="Segoe UI"/>
              </a:rPr>
              <a:t>Palace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experiences</a:t>
            </a:r>
            <a:r>
              <a:rPr sz="1400" b="1" i="1" spc="-5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the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highest</a:t>
            </a:r>
            <a:r>
              <a:rPr sz="1400" b="1" i="1" spc="-2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rate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at</a:t>
            </a:r>
            <a:r>
              <a:rPr sz="1400" b="1" i="1" spc="-30" dirty="0">
                <a:latin typeface="Segoe UI"/>
                <a:cs typeface="Segoe UI"/>
              </a:rPr>
              <a:t> </a:t>
            </a:r>
            <a:r>
              <a:rPr lang="en-IN" sz="1400" b="1" i="1" spc="-30" dirty="0">
                <a:latin typeface="Segoe UI"/>
                <a:cs typeface="Segoe UI"/>
              </a:rPr>
              <a:t>25.18</a:t>
            </a:r>
            <a:r>
              <a:rPr sz="1400" b="1" i="1" dirty="0">
                <a:latin typeface="Segoe UI"/>
                <a:cs typeface="Segoe UI"/>
              </a:rPr>
              <a:t>%,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closely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followed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 err="1">
                <a:latin typeface="Segoe UI"/>
                <a:cs typeface="Segoe UI"/>
              </a:rPr>
              <a:t>Atliq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lang="en-IN" sz="1400" dirty="0">
                <a:latin typeface="Segoe UI"/>
                <a:cs typeface="Segoe UI"/>
              </a:rPr>
              <a:t>Grands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City.</a:t>
            </a:r>
            <a:endParaRPr sz="1400" dirty="0">
              <a:latin typeface="Segoe UI"/>
              <a:cs typeface="Segoe U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Whereas,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Exotica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registers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lowest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cancellation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rate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lang="en-IN" sz="1400" spc="-35" dirty="0">
                <a:latin typeface="Segoe UI"/>
                <a:cs typeface="Segoe UI"/>
              </a:rPr>
              <a:t>24.37</a:t>
            </a:r>
            <a:r>
              <a:rPr sz="1400" spc="-10" dirty="0">
                <a:latin typeface="Segoe UI"/>
                <a:cs typeface="Segoe UI"/>
              </a:rPr>
              <a:t>%.</a:t>
            </a:r>
            <a:endParaRPr sz="1400" dirty="0">
              <a:latin typeface="Segoe UI"/>
              <a:cs typeface="Segoe UI"/>
            </a:endParaRPr>
          </a:p>
          <a:p>
            <a:pPr marL="299085" marR="289433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307975" algn="l"/>
              </a:tabLst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cancellations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incurred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resulted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substantial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loss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approximately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200</a:t>
            </a:r>
            <a:r>
              <a:rPr sz="1400" spc="-7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million, 	</a:t>
            </a:r>
            <a:r>
              <a:rPr sz="1400" dirty="0">
                <a:latin typeface="Segoe UI"/>
                <a:cs typeface="Segoe UI"/>
              </a:rPr>
              <a:t>underscoring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financial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impact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booking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cancellations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on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business.</a:t>
            </a:r>
            <a:endParaRPr sz="1400" dirty="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788019-B425-EE35-A0C8-28ED764A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63" y="1447800"/>
            <a:ext cx="9829799" cy="23812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0FAE-6DE9-292C-16A4-3783D541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51C747-ED46-0777-C988-83C682FEB9E9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Staff training &amp; service quality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 cleanliness &amp; maintenance audits</a:t>
            </a:r>
          </a:p>
          <a:p>
            <a:r>
              <a:rPr lang="en-US" dirty="0"/>
              <a:t>👉 </a:t>
            </a:r>
            <a:r>
              <a:rPr lang="en-US" b="1" dirty="0"/>
              <a:t>Impact:</a:t>
            </a:r>
            <a:r>
              <a:rPr lang="en-US" dirty="0"/>
              <a:t> Improves </a:t>
            </a:r>
            <a:r>
              <a:rPr lang="en-US" b="1" dirty="0"/>
              <a:t>Ratings → Occupancy → Revenue</a:t>
            </a:r>
            <a:endParaRPr lang="en-US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A2B66-13C3-774F-48B4-C499C2F7D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sz="1400" b="1" dirty="0"/>
              <a:t>🏨 2. Property-Specific Strategy</a:t>
            </a:r>
          </a:p>
          <a:p>
            <a:endParaRPr lang="en-IN" sz="1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7311CF-A7DC-D4A4-51C3-F366E8517849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IN" b="1" dirty="0"/>
              <a:t>🔴 </a:t>
            </a:r>
            <a:r>
              <a:rPr lang="en-IN" b="1" dirty="0" err="1"/>
              <a:t>Atliq</a:t>
            </a:r>
            <a:r>
              <a:rPr lang="en-IN" b="1" dirty="0"/>
              <a:t> Seasons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Rebranding / renovation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 service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Revisit pricing strategy</a:t>
            </a:r>
          </a:p>
          <a:p>
            <a:r>
              <a:rPr lang="en-IN" b="1" dirty="0"/>
              <a:t>🔴 Exotica Hyderabad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Benchmark with top-performing Exotica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Identify and fix operational gaps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A3214-F89D-771E-6609-8E3927EA55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400" b="1" dirty="0"/>
              <a:t>🚀 3. Scale High Performers</a:t>
            </a:r>
          </a:p>
          <a:p>
            <a:endParaRPr lang="en-IN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E88357-1B78-3C28-2DA0-311022E02C6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 presence in </a:t>
            </a:r>
            <a:r>
              <a:rPr lang="en-US" b="1" dirty="0"/>
              <a:t>Mumbai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Replicate best practices from </a:t>
            </a:r>
            <a:r>
              <a:rPr lang="en-US" b="1" dirty="0" err="1"/>
              <a:t>Atliq</a:t>
            </a:r>
            <a:r>
              <a:rPr lang="en-US" b="1" dirty="0"/>
              <a:t> Blu</a:t>
            </a:r>
            <a:endParaRPr lang="en-US" dirty="0"/>
          </a:p>
          <a:p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4B4521-3E46-D854-188A-3C413E4F2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💡 1. Enhance Customer Experience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3373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2A57433-14C3-E8E7-6D1B-FD9529471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Impacts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EBEF201-AB3C-093C-F76F-858C5982A1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2057400"/>
            <a:ext cx="78486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05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97934" y="2793873"/>
            <a:ext cx="45980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365" dirty="0">
                <a:solidFill>
                  <a:srgbClr val="FFFFFF"/>
                </a:solidFill>
              </a:rPr>
              <a:t>Thank</a:t>
            </a:r>
            <a:r>
              <a:rPr sz="7200" spc="-75" dirty="0">
                <a:solidFill>
                  <a:srgbClr val="FFFFFF"/>
                </a:solidFill>
              </a:rPr>
              <a:t> </a:t>
            </a:r>
            <a:r>
              <a:rPr sz="7200" spc="-120" dirty="0">
                <a:solidFill>
                  <a:srgbClr val="FFFFFF"/>
                </a:solidFill>
              </a:rPr>
              <a:t>You</a:t>
            </a:r>
            <a:endParaRPr sz="7200" dirty="0"/>
          </a:p>
        </p:txBody>
      </p:sp>
      <p:sp>
        <p:nvSpPr>
          <p:cNvPr id="14" name="object 14"/>
          <p:cNvSpPr txBox="1"/>
          <p:nvPr/>
        </p:nvSpPr>
        <p:spPr>
          <a:xfrm>
            <a:off x="7086600" y="4114800"/>
            <a:ext cx="3935729" cy="671338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en-IN"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Margarat Sheeba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endParaRPr lang="en-IN" sz="1600" spc="-10" dirty="0">
              <a:solidFill>
                <a:srgbClr val="FFFFFF"/>
              </a:solidFill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188</TotalTime>
  <Words>861</Words>
  <Application>Microsoft Office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Century Gothic</vt:lpstr>
      <vt:lpstr>Segoe UI</vt:lpstr>
      <vt:lpstr>Segoe UI Light</vt:lpstr>
      <vt:lpstr>Wingdings 3</vt:lpstr>
      <vt:lpstr>Ion</vt:lpstr>
      <vt:lpstr>Atliq Hospitality Analysis</vt:lpstr>
      <vt:lpstr>PowerPoint Presentation</vt:lpstr>
      <vt:lpstr>Company Overview</vt:lpstr>
      <vt:lpstr>Data Model Star Schema</vt:lpstr>
      <vt:lpstr>Key Performance Indicators Hospitality Domain</vt:lpstr>
      <vt:lpstr>Dashboard</vt:lpstr>
      <vt:lpstr>Dashboard</vt:lpstr>
      <vt:lpstr>Dashboard</vt:lpstr>
      <vt:lpstr>Dashboard</vt:lpstr>
      <vt:lpstr>Insights</vt:lpstr>
      <vt:lpstr>Insights</vt:lpstr>
      <vt:lpstr>Insights</vt:lpstr>
      <vt:lpstr>Insights</vt:lpstr>
      <vt:lpstr>Insights</vt:lpstr>
      <vt:lpstr>Insights</vt:lpstr>
      <vt:lpstr>Recommendations</vt:lpstr>
      <vt:lpstr>Business Impacts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Hospitality Analysis</dc:title>
  <dc:creator>Sameera K</dc:creator>
  <cp:lastModifiedBy>Margarat Sheeba</cp:lastModifiedBy>
  <cp:revision>25</cp:revision>
  <dcterms:created xsi:type="dcterms:W3CDTF">2026-03-17T09:44:30Z</dcterms:created>
  <dcterms:modified xsi:type="dcterms:W3CDTF">2026-03-18T04:24:27Z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2026-03-17T00:00:00Z</vt:filetime>
  </property>
  <property fmtid="{D5CDD505-2E9C-101B-9397-08002B2CF9AE}" pid="5" name="Producer">
    <vt:lpwstr>Microsoft® PowerPoint® 2021</vt:lpwstr>
  </property>
</Properties>
</file>